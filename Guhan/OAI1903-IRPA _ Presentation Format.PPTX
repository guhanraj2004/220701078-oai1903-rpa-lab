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9144000"/>
  <p:notesSz cx="6858000" cy="9144000"/>
  <p:embeddedFontLst>
    <p:embeddedFont>
      <p:font typeface="Open Sans ExtraBold"/>
      <p:bold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OpenSansExtraBold-bold.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OpenSansExtraBold-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lvl1pPr indent="-381000" lvl="0" marL="457200" algn="l">
              <a:lnSpc>
                <a:spcPct val="114000"/>
              </a:lnSpc>
              <a:spcBef>
                <a:spcPts val="480"/>
              </a:spcBef>
              <a:spcAft>
                <a:spcPts val="0"/>
              </a:spcAft>
              <a:buClr>
                <a:schemeClr val="dk1"/>
              </a:buClr>
              <a:buSzPts val="2400"/>
              <a:buFont typeface="Noto Sans Symbols"/>
              <a:buChar char="▪"/>
              <a:defRPr sz="2400">
                <a:latin typeface="Calibri"/>
                <a:ea typeface="Calibri"/>
                <a:cs typeface="Calibri"/>
                <a:sym typeface="Calibri"/>
              </a:defRPr>
            </a:lvl1pPr>
            <a:lvl2pPr indent="-355600" lvl="1" marL="914400" algn="l">
              <a:lnSpc>
                <a:spcPct val="114000"/>
              </a:lnSpc>
              <a:spcBef>
                <a:spcPts val="400"/>
              </a:spcBef>
              <a:spcAft>
                <a:spcPts val="0"/>
              </a:spcAft>
              <a:buClr>
                <a:schemeClr val="dk1"/>
              </a:buClr>
              <a:buSzPts val="2000"/>
              <a:buFont typeface="Arial"/>
              <a:buChar char="•"/>
              <a:defRPr sz="2000">
                <a:latin typeface="Calibri"/>
                <a:ea typeface="Calibri"/>
                <a:cs typeface="Calibri"/>
                <a:sym typeface="Calibri"/>
              </a:defRPr>
            </a:lvl2pPr>
            <a:lvl3pPr indent="-342900" lvl="2" marL="1371600" algn="l">
              <a:lnSpc>
                <a:spcPct val="114000"/>
              </a:lnSpc>
              <a:spcBef>
                <a:spcPts val="360"/>
              </a:spcBef>
              <a:spcAft>
                <a:spcPts val="0"/>
              </a:spcAft>
              <a:buClr>
                <a:schemeClr val="dk1"/>
              </a:buClr>
              <a:buSzPts val="1800"/>
              <a:buChar char="•"/>
              <a:defRPr sz="1800">
                <a:latin typeface="Calibri"/>
                <a:ea typeface="Calibri"/>
                <a:cs typeface="Calibri"/>
                <a:sym typeface="Calibri"/>
              </a:defRPr>
            </a:lvl3pPr>
            <a:lvl4pPr indent="-330200" lvl="3" marL="1828800" algn="l">
              <a:lnSpc>
                <a:spcPct val="114000"/>
              </a:lnSpc>
              <a:spcBef>
                <a:spcPts val="320"/>
              </a:spcBef>
              <a:spcAft>
                <a:spcPts val="0"/>
              </a:spcAft>
              <a:buClr>
                <a:schemeClr val="dk1"/>
              </a:buClr>
              <a:buSzPts val="1600"/>
              <a:buChar char="–"/>
              <a:defRPr sz="1600">
                <a:latin typeface="Calibri"/>
                <a:ea typeface="Calibri"/>
                <a:cs typeface="Calibri"/>
                <a:sym typeface="Calibri"/>
              </a:defRPr>
            </a:lvl4pPr>
            <a:lvl5pPr indent="-330200" lvl="4" marL="2286000" algn="l">
              <a:lnSpc>
                <a:spcPct val="114000"/>
              </a:lnSpc>
              <a:spcBef>
                <a:spcPts val="320"/>
              </a:spcBef>
              <a:spcAft>
                <a:spcPts val="0"/>
              </a:spcAft>
              <a:buClr>
                <a:schemeClr val="dk1"/>
              </a:buClr>
              <a:buSzPts val="1600"/>
              <a:buChar char="»"/>
              <a:defRPr sz="1600">
                <a:latin typeface="Calibri"/>
                <a:ea typeface="Calibri"/>
                <a:cs typeface="Calibri"/>
                <a:sym typeface="Calibri"/>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3"/>
          <p:cNvSpPr/>
          <p:nvPr/>
        </p:nvSpPr>
        <p:spPr>
          <a:xfrm>
            <a:off x="0" y="6477000"/>
            <a:ext cx="4572000" cy="381000"/>
          </a:xfrm>
          <a:prstGeom prst="rect">
            <a:avLst/>
          </a:prstGeom>
          <a:solidFill>
            <a:srgbClr val="34495E"/>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FFFFFF"/>
                </a:solidFill>
                <a:latin typeface="Calibri"/>
                <a:ea typeface="Calibri"/>
                <a:cs typeface="Calibri"/>
                <a:sym typeface="Calibri"/>
              </a:rPr>
              <a:t>Department of Computer</a:t>
            </a:r>
            <a:r>
              <a:rPr lang="en-US" sz="1600">
                <a:solidFill>
                  <a:srgbClr val="FFFFFF"/>
                </a:solidFill>
                <a:latin typeface="Calibri"/>
                <a:ea typeface="Calibri"/>
                <a:cs typeface="Calibri"/>
                <a:sym typeface="Calibri"/>
              </a:rPr>
              <a:t> Science and Engineering</a:t>
            </a:r>
            <a:endParaRPr sz="1600">
              <a:solidFill>
                <a:srgbClr val="FFFFFF"/>
              </a:solidFill>
              <a:latin typeface="Calibri"/>
              <a:ea typeface="Calibri"/>
              <a:cs typeface="Calibri"/>
              <a:sym typeface="Calibri"/>
            </a:endParaRPr>
          </a:p>
        </p:txBody>
      </p:sp>
      <p:cxnSp>
        <p:nvCxnSpPr>
          <p:cNvPr id="23" name="Google Shape;23;p3"/>
          <p:cNvCxnSpPr/>
          <p:nvPr/>
        </p:nvCxnSpPr>
        <p:spPr>
          <a:xfrm>
            <a:off x="190500" y="914400"/>
            <a:ext cx="8763000" cy="0"/>
          </a:xfrm>
          <a:prstGeom prst="straightConnector1">
            <a:avLst/>
          </a:prstGeom>
          <a:noFill/>
          <a:ln cap="flat" cmpd="sng" w="9525">
            <a:solidFill>
              <a:srgbClr val="D8D8D8"/>
            </a:solidFill>
            <a:prstDash val="solid"/>
            <a:round/>
            <a:headEnd len="sm" w="sm" type="none"/>
            <a:tailEnd len="sm" w="sm" type="none"/>
          </a:ln>
        </p:spPr>
      </p:cxnSp>
      <p:sp>
        <p:nvSpPr>
          <p:cNvPr id="24" name="Google Shape;24;p3"/>
          <p:cNvSpPr/>
          <p:nvPr/>
        </p:nvSpPr>
        <p:spPr>
          <a:xfrm>
            <a:off x="4572000" y="6477490"/>
            <a:ext cx="4572000" cy="381000"/>
          </a:xfrm>
          <a:prstGeom prst="rect">
            <a:avLst/>
          </a:prstGeom>
          <a:solidFill>
            <a:srgbClr val="34495E"/>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FFFFFF"/>
                </a:solidFill>
                <a:latin typeface="Calibri"/>
                <a:ea typeface="Calibri"/>
                <a:cs typeface="Calibri"/>
                <a:sym typeface="Calibri"/>
              </a:rPr>
              <a:t>Rajalakshmi Engineering College 		</a:t>
            </a:r>
            <a:fld id="{00000000-1234-1234-1234-123412341234}" type="slidenum">
              <a:rPr lang="en-US" sz="1600">
                <a:solidFill>
                  <a:srgbClr val="FFFFFF"/>
                </a:solidFill>
                <a:latin typeface="Calibri"/>
                <a:ea typeface="Calibri"/>
                <a:cs typeface="Calibri"/>
                <a:sym typeface="Calibri"/>
              </a:rPr>
              <a:t>‹#›</a:t>
            </a:fld>
            <a:endParaRPr sz="1600">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Open Sans ExtraBold"/>
              <a:buNone/>
              <a:defRPr>
                <a:latin typeface="Open Sans ExtraBold"/>
                <a:ea typeface="Open Sans ExtraBold"/>
                <a:cs typeface="Open Sans ExtraBold"/>
                <a:sym typeface="Open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image" Target="../media/image5.png"/><Relationship Id="rId8"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3"/>
          <p:cNvPicPr preferRelativeResize="0"/>
          <p:nvPr/>
        </p:nvPicPr>
        <p:blipFill rotWithShape="1">
          <a:blip r:embed="rId3">
            <a:alphaModFix/>
          </a:blip>
          <a:srcRect b="-30897" l="-776" r="776" t="63278"/>
          <a:stretch/>
        </p:blipFill>
        <p:spPr>
          <a:xfrm>
            <a:off x="-72010" y="-2532"/>
            <a:ext cx="9216010" cy="3231811"/>
          </a:xfrm>
          <a:prstGeom prst="rect">
            <a:avLst/>
          </a:prstGeom>
          <a:noFill/>
          <a:ln>
            <a:noFill/>
          </a:ln>
        </p:spPr>
      </p:pic>
      <p:grpSp>
        <p:nvGrpSpPr>
          <p:cNvPr id="89" name="Google Shape;89;p13"/>
          <p:cNvGrpSpPr/>
          <p:nvPr/>
        </p:nvGrpSpPr>
        <p:grpSpPr>
          <a:xfrm>
            <a:off x="-14748" y="986564"/>
            <a:ext cx="9158748" cy="5457236"/>
            <a:chOff x="-14748" y="986564"/>
            <a:chExt cx="9158748" cy="5457236"/>
          </a:xfrm>
        </p:grpSpPr>
        <p:sp>
          <p:nvSpPr>
            <p:cNvPr id="90" name="Google Shape;90;p13"/>
            <p:cNvSpPr txBox="1"/>
            <p:nvPr/>
          </p:nvSpPr>
          <p:spPr>
            <a:xfrm>
              <a:off x="177775" y="4812100"/>
              <a:ext cx="5914800" cy="163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chemeClr val="dk1"/>
                  </a:solidFill>
                  <a:latin typeface="Calibri"/>
                  <a:ea typeface="Calibri"/>
                  <a:cs typeface="Calibri"/>
                  <a:sym typeface="Calibri"/>
                </a:rPr>
                <a:t>Register No</a:t>
              </a:r>
              <a:r>
                <a:rPr b="1" lang="en-US" sz="2000">
                  <a:solidFill>
                    <a:schemeClr val="dk1"/>
                  </a:solidFill>
                  <a:latin typeface="Calibri"/>
                  <a:ea typeface="Calibri"/>
                  <a:cs typeface="Calibri"/>
                  <a:sym typeface="Calibri"/>
                </a:rPr>
                <a:t>: 220701078</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Name: Guhanraj . P</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Guide Name: Mrs. J. Jinu Sophia(Ph.D.)</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Designation: Assistant Professor(SG)</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Department: Computer Science and Engineering</a:t>
              </a:r>
              <a:endParaRPr b="1" sz="2000">
                <a:solidFill>
                  <a:schemeClr val="dk1"/>
                </a:solidFill>
                <a:latin typeface="Calibri"/>
                <a:ea typeface="Calibri"/>
                <a:cs typeface="Calibri"/>
                <a:sym typeface="Calibri"/>
              </a:endParaRPr>
            </a:p>
          </p:txBody>
        </p:sp>
        <p:grpSp>
          <p:nvGrpSpPr>
            <p:cNvPr id="91" name="Google Shape;91;p13"/>
            <p:cNvGrpSpPr/>
            <p:nvPr/>
          </p:nvGrpSpPr>
          <p:grpSpPr>
            <a:xfrm>
              <a:off x="-14748" y="986564"/>
              <a:ext cx="9158748" cy="3700336"/>
              <a:chOff x="-14748" y="986564"/>
              <a:chExt cx="9158748" cy="3700336"/>
            </a:xfrm>
          </p:grpSpPr>
          <p:sp>
            <p:nvSpPr>
              <p:cNvPr id="92" name="Google Shape;92;p13"/>
              <p:cNvSpPr/>
              <p:nvPr/>
            </p:nvSpPr>
            <p:spPr>
              <a:xfrm>
                <a:off x="5003203" y="1761199"/>
                <a:ext cx="4140797" cy="2622445"/>
              </a:xfrm>
              <a:custGeom>
                <a:rect b="b" l="l" r="r" t="t"/>
                <a:pathLst>
                  <a:path extrusionOk="0" h="2622445" w="4140797">
                    <a:moveTo>
                      <a:pt x="1" y="0"/>
                    </a:moveTo>
                    <a:lnTo>
                      <a:pt x="4140797" y="0"/>
                    </a:lnTo>
                    <a:lnTo>
                      <a:pt x="4140797" y="2622445"/>
                    </a:lnTo>
                    <a:lnTo>
                      <a:pt x="0" y="2622445"/>
                    </a:lnTo>
                    <a:lnTo>
                      <a:pt x="1311223" y="1311222"/>
                    </a:lnTo>
                    <a:lnTo>
                      <a:pt x="1" y="0"/>
                    </a:lnTo>
                    <a:close/>
                  </a:path>
                </a:pathLst>
              </a:custGeom>
              <a:solidFill>
                <a:srgbClr val="00AAA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 name="Google Shape;93;p13"/>
              <p:cNvSpPr/>
              <p:nvPr/>
            </p:nvSpPr>
            <p:spPr>
              <a:xfrm>
                <a:off x="0" y="1529371"/>
                <a:ext cx="5743977" cy="3086100"/>
              </a:xfrm>
              <a:prstGeom prst="homePlate">
                <a:avLst>
                  <a:gd fmla="val 50000" name="adj"/>
                </a:avLst>
              </a:prstGeom>
              <a:solidFill>
                <a:srgbClr val="59595B"/>
              </a:solidFill>
              <a:ln cap="flat" cmpd="sng" w="25400">
                <a:solidFill>
                  <a:srgbClr val="59595B"/>
                </a:solidFill>
                <a:prstDash val="solid"/>
                <a:round/>
                <a:headEnd len="sm" w="sm" type="none"/>
                <a:tailEnd len="sm" w="sm" type="none"/>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4" name="Google Shape;94;p13"/>
              <p:cNvGrpSpPr/>
              <p:nvPr/>
            </p:nvGrpSpPr>
            <p:grpSpPr>
              <a:xfrm>
                <a:off x="-14748" y="986564"/>
                <a:ext cx="4014973" cy="1075928"/>
                <a:chOff x="-19391" y="1011603"/>
                <a:chExt cx="5278947" cy="1075928"/>
              </a:xfrm>
            </p:grpSpPr>
            <p:sp>
              <p:nvSpPr>
                <p:cNvPr id="95" name="Google Shape;95;p13"/>
                <p:cNvSpPr/>
                <p:nvPr/>
              </p:nvSpPr>
              <p:spPr>
                <a:xfrm>
                  <a:off x="-19391" y="1011603"/>
                  <a:ext cx="5278947" cy="1075928"/>
                </a:xfrm>
                <a:prstGeom prst="homePlate">
                  <a:avLst>
                    <a:gd fmla="val 50000" name="adj"/>
                  </a:avLst>
                </a:prstGeom>
                <a:solidFill>
                  <a:srgbClr val="00AAAD"/>
                </a:solidFill>
                <a:ln>
                  <a:noFill/>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 name="Google Shape;96;p13"/>
                <p:cNvSpPr txBox="1"/>
                <p:nvPr/>
              </p:nvSpPr>
              <p:spPr>
                <a:xfrm>
                  <a:off x="237041" y="1195624"/>
                  <a:ext cx="4181886" cy="707886"/>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chemeClr val="lt1"/>
                      </a:solidFill>
                      <a:latin typeface="Calibri"/>
                      <a:ea typeface="Calibri"/>
                      <a:cs typeface="Calibri"/>
                      <a:sym typeface="Calibri"/>
                    </a:rPr>
                    <a:t>Introduction to </a:t>
                  </a:r>
                  <a:endParaRPr/>
                </a:p>
                <a:p>
                  <a:pPr indent="0" lvl="0" marL="0" marR="0" rtl="0" algn="ctr">
                    <a:spcBef>
                      <a:spcPts val="0"/>
                    </a:spcBef>
                    <a:spcAft>
                      <a:spcPts val="0"/>
                    </a:spcAft>
                    <a:buNone/>
                  </a:pPr>
                  <a:r>
                    <a:rPr b="1" lang="en-US" sz="2000">
                      <a:solidFill>
                        <a:schemeClr val="lt1"/>
                      </a:solidFill>
                      <a:latin typeface="Calibri"/>
                      <a:ea typeface="Calibri"/>
                      <a:cs typeface="Calibri"/>
                      <a:sym typeface="Calibri"/>
                    </a:rPr>
                    <a:t>Robotic Process Automation </a:t>
                  </a:r>
                  <a:endParaRPr b="1" sz="2000">
                    <a:solidFill>
                      <a:schemeClr val="lt1"/>
                    </a:solidFill>
                    <a:latin typeface="Calibri"/>
                    <a:ea typeface="Calibri"/>
                    <a:cs typeface="Calibri"/>
                    <a:sym typeface="Calibri"/>
                  </a:endParaRPr>
                </a:p>
              </p:txBody>
            </p:sp>
          </p:grpSp>
          <p:sp>
            <p:nvSpPr>
              <p:cNvPr id="97" name="Google Shape;97;p13"/>
              <p:cNvSpPr txBox="1"/>
              <p:nvPr/>
            </p:nvSpPr>
            <p:spPr>
              <a:xfrm>
                <a:off x="177774" y="2100900"/>
                <a:ext cx="4638900" cy="2586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5400">
                    <a:solidFill>
                      <a:schemeClr val="lt1"/>
                    </a:solidFill>
                    <a:latin typeface="Calibri"/>
                    <a:ea typeface="Calibri"/>
                    <a:cs typeface="Calibri"/>
                    <a:sym typeface="Calibri"/>
                  </a:rPr>
                  <a:t>LIBRARY MANAGEMENT BOT </a:t>
                </a:r>
                <a:endParaRPr/>
              </a:p>
            </p:txBody>
          </p:sp>
          <p:sp>
            <p:nvSpPr>
              <p:cNvPr id="98" name="Google Shape;98;p13"/>
              <p:cNvSpPr/>
              <p:nvPr/>
            </p:nvSpPr>
            <p:spPr>
              <a:xfrm>
                <a:off x="4652237" y="1529372"/>
                <a:ext cx="1672363" cy="3086099"/>
              </a:xfrm>
              <a:custGeom>
                <a:rect b="b" l="l" r="r" t="t"/>
                <a:pathLst>
                  <a:path extrusionOk="0" h="3086099" w="1672363">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id="99" name="Google Shape;99;p13"/>
          <p:cNvPicPr preferRelativeResize="0"/>
          <p:nvPr/>
        </p:nvPicPr>
        <p:blipFill rotWithShape="1">
          <a:blip r:embed="rId4">
            <a:alphaModFix/>
          </a:blip>
          <a:srcRect b="0" l="0" r="0" t="0"/>
          <a:stretch/>
        </p:blipFill>
        <p:spPr>
          <a:xfrm>
            <a:off x="7128284" y="4441459"/>
            <a:ext cx="1813542" cy="15415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4"/>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Abstract</a:t>
            </a:r>
            <a:endParaRPr>
              <a:latin typeface="Calibri"/>
              <a:ea typeface="Calibri"/>
              <a:cs typeface="Calibri"/>
              <a:sym typeface="Calibri"/>
            </a:endParaRPr>
          </a:p>
        </p:txBody>
      </p:sp>
      <p:sp>
        <p:nvSpPr>
          <p:cNvPr id="106" name="Google Shape;106;p14"/>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lnSpcReduction="20000"/>
          </a:bodyPr>
          <a:lstStyle/>
          <a:p>
            <a:pPr indent="0" lvl="0" marL="0" rtl="0" algn="just">
              <a:lnSpc>
                <a:spcPct val="150000"/>
              </a:lnSpc>
              <a:spcBef>
                <a:spcPts val="1200"/>
              </a:spcBef>
              <a:spcAft>
                <a:spcPts val="0"/>
              </a:spcAft>
              <a:buNone/>
            </a:pPr>
            <a:r>
              <a:rPr lang="en-US"/>
              <a:t>                  </a:t>
            </a:r>
            <a:r>
              <a:rPr lang="en-US" sz="1800"/>
              <a:t>       </a:t>
            </a:r>
            <a:r>
              <a:rPr lang="en-US" sz="1800"/>
              <a:t>This project presents an innovative automation solution using UiPath Robotic Process Automation (RPA) to streamline library membership management and book searching. It automates member registration by capturing essential details such as name, phone number, address, and email, validating them through OTP-based verification, and securely storing the data in an Excel database while sending a welcome email. The book search functionality allows users to locate books by inputting their names, cross-referencing them with an Excel inventory, and retrieving precise location details, which are emailed to the user. Leveraging UiPath advanced features, including Input Dialog, Excel Application Scope, and SMTP Mail activities, the workflow ensures robust error handling, secure data processing, and seamless execution. This automation significantly reduces administrative effort, enhances user experience, and offers a scalable framework applicable to other domains.</a:t>
            </a:r>
            <a:endParaRPr sz="1800"/>
          </a:p>
          <a:p>
            <a:pPr indent="0" lvl="0" marL="0" rtl="0" algn="l">
              <a:lnSpc>
                <a:spcPct val="114000"/>
              </a:lnSpc>
              <a:spcBef>
                <a:spcPts val="12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5"/>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Need for the Proposed System</a:t>
            </a:r>
            <a:endParaRPr>
              <a:latin typeface="Calibri"/>
              <a:ea typeface="Calibri"/>
              <a:cs typeface="Calibri"/>
              <a:sym typeface="Calibri"/>
            </a:endParaRPr>
          </a:p>
        </p:txBody>
      </p:sp>
      <p:sp>
        <p:nvSpPr>
          <p:cNvPr id="113" name="Google Shape;113;p15"/>
          <p:cNvSpPr txBox="1"/>
          <p:nvPr>
            <p:ph idx="1" type="body"/>
          </p:nvPr>
        </p:nvSpPr>
        <p:spPr>
          <a:xfrm>
            <a:off x="121475" y="914400"/>
            <a:ext cx="8763000" cy="53148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5000"/>
              </a:lnSpc>
              <a:spcBef>
                <a:spcPts val="1400"/>
              </a:spcBef>
              <a:spcAft>
                <a:spcPts val="0"/>
              </a:spcAft>
              <a:buClr>
                <a:schemeClr val="dk1"/>
              </a:buClr>
              <a:buSzPts val="275"/>
              <a:buFont typeface="Arial"/>
              <a:buNone/>
            </a:pPr>
            <a:r>
              <a:t/>
            </a:r>
            <a:endParaRPr b="1" sz="7118"/>
          </a:p>
          <a:p>
            <a:pPr indent="-342900" lvl="0" marL="457200" rtl="0" algn="just">
              <a:lnSpc>
                <a:spcPct val="150000"/>
              </a:lnSpc>
              <a:spcBef>
                <a:spcPts val="1200"/>
              </a:spcBef>
              <a:spcAft>
                <a:spcPts val="0"/>
              </a:spcAft>
              <a:buSzPct val="100000"/>
              <a:buFont typeface="Arial"/>
              <a:buAutoNum type="arabicPeriod"/>
            </a:pPr>
            <a:r>
              <a:rPr b="1" lang="en-US" sz="7200"/>
              <a:t>Efficiency</a:t>
            </a:r>
            <a:r>
              <a:rPr lang="en-US" sz="7200"/>
              <a:t>: Manual processes, such as library management, membershi</a:t>
            </a:r>
            <a:r>
              <a:rPr lang="en-US" sz="7200"/>
              <a:t>p     </a:t>
            </a:r>
            <a:r>
              <a:rPr lang="en-US" sz="7200"/>
              <a:t>registration, or license applications, are time-consuming and prone to errors. Automation significantly reduces the time required.</a:t>
            </a:r>
            <a:endParaRPr sz="7200"/>
          </a:p>
          <a:p>
            <a:pPr indent="-342900" lvl="0" marL="457200" rtl="0" algn="just">
              <a:lnSpc>
                <a:spcPct val="150000"/>
              </a:lnSpc>
              <a:spcBef>
                <a:spcPts val="0"/>
              </a:spcBef>
              <a:spcAft>
                <a:spcPts val="0"/>
              </a:spcAft>
              <a:buSzPct val="100000"/>
              <a:buFont typeface="Arial"/>
              <a:buAutoNum type="arabicPeriod"/>
            </a:pPr>
            <a:r>
              <a:rPr b="1" lang="en-US" sz="7200"/>
              <a:t>Accuracy</a:t>
            </a:r>
            <a:r>
              <a:rPr lang="en-US" sz="7200"/>
              <a:t>:Automation ensures accurate data handling, reducing errors in tasks like data entry, validation, and verification.</a:t>
            </a:r>
            <a:endParaRPr sz="7200"/>
          </a:p>
          <a:p>
            <a:pPr indent="-342900" lvl="0" marL="457200" rtl="0" algn="just">
              <a:lnSpc>
                <a:spcPct val="150000"/>
              </a:lnSpc>
              <a:spcBef>
                <a:spcPts val="0"/>
              </a:spcBef>
              <a:spcAft>
                <a:spcPts val="0"/>
              </a:spcAft>
              <a:buSzPct val="100000"/>
              <a:buFont typeface="Arial"/>
              <a:buAutoNum type="arabicPeriod"/>
            </a:pPr>
            <a:r>
              <a:rPr b="1" lang="en-US" sz="7200"/>
              <a:t>Scalability</a:t>
            </a:r>
            <a:r>
              <a:rPr lang="en-US" sz="7200"/>
              <a:t>:As the demand increases (e.g., more applicants or members), automation can handle larger workloads without additional manpower.</a:t>
            </a:r>
            <a:endParaRPr sz="7200"/>
          </a:p>
          <a:p>
            <a:pPr indent="-342900" lvl="0" marL="457200" rtl="0" algn="just">
              <a:lnSpc>
                <a:spcPct val="150000"/>
              </a:lnSpc>
              <a:spcBef>
                <a:spcPts val="0"/>
              </a:spcBef>
              <a:spcAft>
                <a:spcPts val="0"/>
              </a:spcAft>
              <a:buSzPct val="100000"/>
              <a:buFont typeface="Arial"/>
              <a:buAutoNum type="arabicPeriod"/>
            </a:pPr>
            <a:r>
              <a:rPr b="1" lang="en-US" sz="7200"/>
              <a:t>Consistency</a:t>
            </a:r>
            <a:r>
              <a:rPr lang="en-US" sz="7200"/>
              <a:t>:The system performs repetitive tasks in the same way every time, ensuring uniformity and reliability in results.</a:t>
            </a:r>
            <a:endParaRPr sz="7200"/>
          </a:p>
          <a:p>
            <a:pPr indent="-342900" lvl="0" marL="457200" rtl="0" algn="just">
              <a:lnSpc>
                <a:spcPct val="150000"/>
              </a:lnSpc>
              <a:spcBef>
                <a:spcPts val="0"/>
              </a:spcBef>
              <a:spcAft>
                <a:spcPts val="0"/>
              </a:spcAft>
              <a:buSzPct val="100000"/>
              <a:buFont typeface="Arial"/>
              <a:buAutoNum type="arabicPeriod"/>
            </a:pPr>
            <a:r>
              <a:rPr b="1" lang="en-US" sz="7200"/>
              <a:t>Integration</a:t>
            </a:r>
            <a:r>
              <a:rPr lang="en-US" sz="7200"/>
              <a:t>:It bridges gaps between various systems, such as Excel files, databases, web applications, and email systems, enabling seamless workflows.</a:t>
            </a:r>
            <a:endParaRPr sz="7200"/>
          </a:p>
          <a:p>
            <a:pPr indent="-342900" lvl="0" marL="457200" rtl="0" algn="just">
              <a:lnSpc>
                <a:spcPct val="150000"/>
              </a:lnSpc>
              <a:spcBef>
                <a:spcPts val="0"/>
              </a:spcBef>
              <a:spcAft>
                <a:spcPts val="0"/>
              </a:spcAft>
              <a:buSzPct val="100000"/>
              <a:buFont typeface="Arial"/>
              <a:buAutoNum type="arabicPeriod"/>
            </a:pPr>
            <a:r>
              <a:rPr b="1" lang="en-US" sz="7200"/>
              <a:t>Cost Reduction</a:t>
            </a:r>
            <a:r>
              <a:rPr lang="en-US" sz="7200"/>
              <a:t>:By automating routine tasks, organizations save on labor costs and minimize rework caused by human errors.</a:t>
            </a:r>
            <a:endParaRPr sz="7200"/>
          </a:p>
          <a:p>
            <a:pPr indent="0" lvl="0" marL="0" rtl="0" algn="l">
              <a:lnSpc>
                <a:spcPct val="114000"/>
              </a:lnSpc>
              <a:spcBef>
                <a:spcPts val="12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6"/>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Advantages of the Proposed System</a:t>
            </a:r>
            <a:endParaRPr>
              <a:latin typeface="Calibri"/>
              <a:ea typeface="Calibri"/>
              <a:cs typeface="Calibri"/>
              <a:sym typeface="Calibri"/>
            </a:endParaRPr>
          </a:p>
        </p:txBody>
      </p:sp>
      <p:sp>
        <p:nvSpPr>
          <p:cNvPr id="120" name="Google Shape;120;p16"/>
          <p:cNvSpPr txBox="1"/>
          <p:nvPr>
            <p:ph idx="1" type="body"/>
          </p:nvPr>
        </p:nvSpPr>
        <p:spPr>
          <a:xfrm>
            <a:off x="190500" y="1300350"/>
            <a:ext cx="8763000" cy="5217600"/>
          </a:xfrm>
          <a:prstGeom prst="rect">
            <a:avLst/>
          </a:prstGeom>
          <a:noFill/>
          <a:ln>
            <a:noFill/>
          </a:ln>
        </p:spPr>
        <p:txBody>
          <a:bodyPr anchorCtr="0" anchor="t" bIns="45700" lIns="91425" spcFirstLastPara="1" rIns="91425" wrap="square" tIns="45700">
            <a:noAutofit/>
          </a:bodyPr>
          <a:lstStyle/>
          <a:p>
            <a:pPr indent="-342900" lvl="0" marL="457200" rtl="0" algn="just">
              <a:lnSpc>
                <a:spcPct val="150000"/>
              </a:lnSpc>
              <a:spcBef>
                <a:spcPts val="1400"/>
              </a:spcBef>
              <a:spcAft>
                <a:spcPts val="0"/>
              </a:spcAft>
              <a:buSzPts val="1800"/>
              <a:buFont typeface="Arial"/>
              <a:buAutoNum type="arabicPeriod"/>
            </a:pPr>
            <a:r>
              <a:rPr b="1" lang="en-US" sz="1800"/>
              <a:t>Time-Saving</a:t>
            </a:r>
            <a:r>
              <a:rPr lang="en-US" sz="1800"/>
              <a:t>:Processes like OTP verification, data storage, and message sending are completed in seconds rather than minutes or hours.</a:t>
            </a:r>
            <a:endParaRPr sz="1800"/>
          </a:p>
          <a:p>
            <a:pPr indent="-342900" lvl="0" marL="457200" rtl="0" algn="just">
              <a:lnSpc>
                <a:spcPct val="150000"/>
              </a:lnSpc>
              <a:spcBef>
                <a:spcPts val="0"/>
              </a:spcBef>
              <a:spcAft>
                <a:spcPts val="0"/>
              </a:spcAft>
              <a:buSzPts val="1800"/>
              <a:buFont typeface="Arial"/>
              <a:buAutoNum type="arabicPeriod"/>
            </a:pPr>
            <a:r>
              <a:rPr b="1" lang="en-US" sz="1800"/>
              <a:t>Improved User Experience</a:t>
            </a:r>
            <a:r>
              <a:rPr lang="en-US" sz="1800"/>
              <a:t>:Tasks such as sending automated welcome messages or verifying data in real-time improve user satisfaction and trust.</a:t>
            </a:r>
            <a:endParaRPr sz="1800"/>
          </a:p>
          <a:p>
            <a:pPr indent="-342900" lvl="0" marL="457200" rtl="0" algn="just">
              <a:lnSpc>
                <a:spcPct val="150000"/>
              </a:lnSpc>
              <a:spcBef>
                <a:spcPts val="0"/>
              </a:spcBef>
              <a:spcAft>
                <a:spcPts val="0"/>
              </a:spcAft>
              <a:buSzPts val="1800"/>
              <a:buFont typeface="Arial"/>
              <a:buAutoNum type="arabicPeriod"/>
            </a:pPr>
            <a:r>
              <a:rPr b="1" lang="en-US" sz="1800"/>
              <a:t>Real-Time Processing</a:t>
            </a:r>
            <a:r>
              <a:rPr lang="en-US" sz="1800"/>
              <a:t>:Immediate validation and processing of information ensure quicker turnaround times, e.g., in driving license applications.</a:t>
            </a:r>
            <a:endParaRPr sz="1800"/>
          </a:p>
          <a:p>
            <a:pPr indent="-342900" lvl="0" marL="457200" rtl="0" algn="just">
              <a:lnSpc>
                <a:spcPct val="150000"/>
              </a:lnSpc>
              <a:spcBef>
                <a:spcPts val="0"/>
              </a:spcBef>
              <a:spcAft>
                <a:spcPts val="0"/>
              </a:spcAft>
              <a:buSzPts val="1800"/>
              <a:buFont typeface="Arial"/>
              <a:buAutoNum type="arabicPeriod"/>
            </a:pPr>
            <a:r>
              <a:rPr b="1" lang="en-US" sz="1800"/>
              <a:t>Security</a:t>
            </a:r>
            <a:r>
              <a:rPr lang="en-US" sz="1800"/>
              <a:t>:Automated OTP verifications enhance data security by ensuring that only valid users proceed in the process.</a:t>
            </a:r>
            <a:endParaRPr sz="1800"/>
          </a:p>
          <a:p>
            <a:pPr indent="-342900" lvl="0" marL="457200" rtl="0" algn="just">
              <a:lnSpc>
                <a:spcPct val="150000"/>
              </a:lnSpc>
              <a:spcBef>
                <a:spcPts val="0"/>
              </a:spcBef>
              <a:spcAft>
                <a:spcPts val="0"/>
              </a:spcAft>
              <a:buSzPts val="1800"/>
              <a:buFont typeface="Arial"/>
              <a:buAutoNum type="arabicPeriod"/>
            </a:pPr>
            <a:r>
              <a:rPr b="1" lang="en-US" sz="1800"/>
              <a:t>Customizable and Scalable</a:t>
            </a:r>
            <a:r>
              <a:rPr lang="en-US" sz="1800"/>
              <a:t>:UiPath workflows can be tailored to meet specific requirements and scaled as organizational needs grow.</a:t>
            </a:r>
            <a:endParaRPr sz="1800"/>
          </a:p>
          <a:p>
            <a:pPr indent="-342900" lvl="0" marL="457200" rtl="0" algn="just">
              <a:lnSpc>
                <a:spcPct val="150000"/>
              </a:lnSpc>
              <a:spcBef>
                <a:spcPts val="0"/>
              </a:spcBef>
              <a:spcAft>
                <a:spcPts val="0"/>
              </a:spcAft>
              <a:buSzPts val="1800"/>
              <a:buFont typeface="Arial"/>
              <a:buAutoNum type="arabicPeriod"/>
            </a:pPr>
            <a:r>
              <a:rPr b="1" lang="en-US" sz="1800"/>
              <a:t>Error Reduction</a:t>
            </a:r>
            <a:r>
              <a:rPr lang="en-US" sz="1800"/>
              <a:t>:By eliminating manual intervention, errors in data entry, calculations, and processing are significantly reduced.</a:t>
            </a:r>
            <a:endParaRPr sz="1800"/>
          </a:p>
          <a:p>
            <a:pPr indent="0" lvl="0" marL="0" rtl="0" algn="l">
              <a:lnSpc>
                <a:spcPct val="114000"/>
              </a:lnSpc>
              <a:spcBef>
                <a:spcPts val="4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7"/>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Literature Survey</a:t>
            </a:r>
            <a:endParaRPr>
              <a:latin typeface="Calibri"/>
              <a:ea typeface="Calibri"/>
              <a:cs typeface="Calibri"/>
              <a:sym typeface="Calibri"/>
            </a:endParaRPr>
          </a:p>
        </p:txBody>
      </p:sp>
      <p:sp>
        <p:nvSpPr>
          <p:cNvPr id="127" name="Google Shape;127;p17"/>
          <p:cNvSpPr txBox="1"/>
          <p:nvPr>
            <p:ph idx="1" type="body"/>
          </p:nvPr>
        </p:nvSpPr>
        <p:spPr>
          <a:xfrm>
            <a:off x="381000" y="610700"/>
            <a:ext cx="8763000" cy="56040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5000"/>
              </a:lnSpc>
              <a:spcBef>
                <a:spcPts val="1400"/>
              </a:spcBef>
              <a:spcAft>
                <a:spcPts val="0"/>
              </a:spcAft>
              <a:buClr>
                <a:schemeClr val="dk1"/>
              </a:buClr>
              <a:buSzPts val="275"/>
              <a:buFont typeface="Arial"/>
              <a:buNone/>
            </a:pPr>
            <a:r>
              <a:t/>
            </a:r>
            <a:endParaRPr b="1" sz="7200"/>
          </a:p>
          <a:p>
            <a:pPr indent="0" lvl="0" marL="0" rtl="0" algn="just">
              <a:lnSpc>
                <a:spcPct val="150000"/>
              </a:lnSpc>
              <a:spcBef>
                <a:spcPts val="1200"/>
              </a:spcBef>
              <a:spcAft>
                <a:spcPts val="0"/>
              </a:spcAft>
              <a:buNone/>
            </a:pPr>
            <a:r>
              <a:rPr b="1" lang="en-US" sz="7200"/>
              <a:t>1. Paper Title:"Enhancing Efficiency in Library Management  Robotic Process Automation”</a:t>
            </a:r>
            <a:endParaRPr sz="7200"/>
          </a:p>
          <a:p>
            <a:pPr indent="-342900" lvl="0" marL="457200" rtl="0" algn="just">
              <a:lnSpc>
                <a:spcPct val="150000"/>
              </a:lnSpc>
              <a:spcBef>
                <a:spcPts val="1200"/>
              </a:spcBef>
              <a:spcAft>
                <a:spcPts val="0"/>
              </a:spcAft>
              <a:buSzPct val="100000"/>
              <a:buFont typeface="Arial"/>
              <a:buChar char="●"/>
            </a:pPr>
            <a:r>
              <a:rPr b="1" lang="en-US" sz="7200"/>
              <a:t>Advantages</a:t>
            </a:r>
            <a:r>
              <a:rPr lang="en-US" sz="7200"/>
              <a:t>:</a:t>
            </a:r>
            <a:endParaRPr sz="6800"/>
          </a:p>
          <a:p>
            <a:pPr indent="-342900" lvl="1" marL="914400" rtl="0" algn="just">
              <a:lnSpc>
                <a:spcPct val="150000"/>
              </a:lnSpc>
              <a:spcBef>
                <a:spcPts val="0"/>
              </a:spcBef>
              <a:spcAft>
                <a:spcPts val="0"/>
              </a:spcAft>
              <a:buSzPct val="100000"/>
              <a:buFont typeface="Calibri"/>
              <a:buChar char="•"/>
            </a:pPr>
            <a:r>
              <a:rPr lang="en-US" sz="7200"/>
              <a:t>Automation reduces human effort in  task  like book inventory management.</a:t>
            </a:r>
            <a:endParaRPr sz="7200"/>
          </a:p>
          <a:p>
            <a:pPr indent="-342900" lvl="1" marL="914400" rtl="0" algn="just">
              <a:lnSpc>
                <a:spcPct val="150000"/>
              </a:lnSpc>
              <a:spcBef>
                <a:spcPts val="0"/>
              </a:spcBef>
              <a:spcAft>
                <a:spcPts val="0"/>
              </a:spcAft>
              <a:buSzPct val="100000"/>
              <a:buFont typeface="Calibri"/>
              <a:buChar char="•"/>
            </a:pPr>
            <a:r>
              <a:rPr lang="en-US" sz="7200"/>
              <a:t>Enhances user experience by providing instant updates on book availability</a:t>
            </a:r>
            <a:r>
              <a:rPr lang="en-US" sz="7200"/>
              <a:t>.</a:t>
            </a:r>
            <a:endParaRPr sz="7200"/>
          </a:p>
          <a:p>
            <a:pPr indent="-342900" lvl="0" marL="457200" rtl="0" algn="just">
              <a:lnSpc>
                <a:spcPct val="150000"/>
              </a:lnSpc>
              <a:spcBef>
                <a:spcPts val="0"/>
              </a:spcBef>
              <a:spcAft>
                <a:spcPts val="0"/>
              </a:spcAft>
              <a:buSzPct val="100000"/>
              <a:buFont typeface="Arial"/>
              <a:buChar char="●"/>
            </a:pPr>
            <a:r>
              <a:rPr b="1" lang="en-US" sz="7200"/>
              <a:t>Disadvantages</a:t>
            </a:r>
            <a:r>
              <a:rPr lang="en-US" sz="7200"/>
              <a:t>:</a:t>
            </a:r>
            <a:endParaRPr sz="7200"/>
          </a:p>
          <a:p>
            <a:pPr indent="-342900" lvl="1" marL="914400" rtl="0" algn="just">
              <a:lnSpc>
                <a:spcPct val="150000"/>
              </a:lnSpc>
              <a:spcBef>
                <a:spcPts val="0"/>
              </a:spcBef>
              <a:spcAft>
                <a:spcPts val="0"/>
              </a:spcAft>
              <a:buSzPct val="100000"/>
              <a:buFont typeface="Calibri"/>
              <a:buChar char="•"/>
            </a:pPr>
            <a:r>
              <a:rPr lang="en-US" sz="7200"/>
              <a:t>Challenges in handling unstructured or handwritten data.</a:t>
            </a:r>
            <a:endParaRPr sz="7200"/>
          </a:p>
          <a:p>
            <a:pPr indent="-342900" lvl="1" marL="914400" rtl="0" algn="just">
              <a:lnSpc>
                <a:spcPct val="150000"/>
              </a:lnSpc>
              <a:spcBef>
                <a:spcPts val="0"/>
              </a:spcBef>
              <a:spcAft>
                <a:spcPts val="0"/>
              </a:spcAft>
              <a:buSzPct val="100000"/>
              <a:buFont typeface="Calibri"/>
              <a:buChar char="•"/>
            </a:pPr>
            <a:r>
              <a:rPr lang="en-US" sz="7200"/>
              <a:t>Requires periodic maintenance and updates to workfl</a:t>
            </a:r>
            <a:r>
              <a:rPr lang="en-US" sz="7200"/>
              <a:t>ows.</a:t>
            </a:r>
            <a:endParaRPr sz="7200"/>
          </a:p>
          <a:p>
            <a:pPr indent="0" lvl="0" marL="0" rtl="0" algn="just">
              <a:lnSpc>
                <a:spcPct val="150000"/>
              </a:lnSpc>
              <a:spcBef>
                <a:spcPts val="1200"/>
              </a:spcBef>
              <a:spcAft>
                <a:spcPts val="0"/>
              </a:spcAft>
              <a:buNone/>
            </a:pPr>
            <a:r>
              <a:rPr b="1" lang="en-US" sz="7200"/>
              <a:t>2. Paper Title:"Scalability of RPA in Library Management System.”</a:t>
            </a:r>
            <a:endParaRPr sz="7200"/>
          </a:p>
          <a:p>
            <a:pPr indent="-342900" lvl="0" marL="457200" rtl="0" algn="just">
              <a:lnSpc>
                <a:spcPct val="150000"/>
              </a:lnSpc>
              <a:spcBef>
                <a:spcPts val="1200"/>
              </a:spcBef>
              <a:spcAft>
                <a:spcPts val="0"/>
              </a:spcAft>
              <a:buSzPct val="100000"/>
              <a:buFont typeface="Arial"/>
              <a:buChar char="●"/>
            </a:pPr>
            <a:r>
              <a:rPr b="1" lang="en-US" sz="7200"/>
              <a:t>Advantages</a:t>
            </a:r>
            <a:r>
              <a:rPr lang="en-US" sz="7200"/>
              <a:t>:</a:t>
            </a:r>
            <a:endParaRPr sz="7200"/>
          </a:p>
          <a:p>
            <a:pPr indent="-342900" lvl="1" marL="914400" rtl="0" algn="just">
              <a:lnSpc>
                <a:spcPct val="150000"/>
              </a:lnSpc>
              <a:spcBef>
                <a:spcPts val="0"/>
              </a:spcBef>
              <a:spcAft>
                <a:spcPts val="0"/>
              </a:spcAft>
              <a:buSzPct val="100000"/>
              <a:buFont typeface="Calibri"/>
              <a:buAutoNum type="arabicPeriod"/>
            </a:pPr>
            <a:r>
              <a:rPr lang="en-US" sz="7200"/>
              <a:t>Supports high-volume processes, such as managing thousands of book records.</a:t>
            </a:r>
            <a:endParaRPr sz="7200"/>
          </a:p>
          <a:p>
            <a:pPr indent="-342900" lvl="1" marL="914400" rtl="0" algn="just">
              <a:lnSpc>
                <a:spcPct val="150000"/>
              </a:lnSpc>
              <a:spcBef>
                <a:spcPts val="0"/>
              </a:spcBef>
              <a:spcAft>
                <a:spcPts val="0"/>
              </a:spcAft>
              <a:buSzPct val="100000"/>
              <a:buFont typeface="Calibri"/>
              <a:buAutoNum type="arabicPeriod"/>
            </a:pPr>
            <a:r>
              <a:rPr lang="en-US" sz="7200"/>
              <a:t>Logs and tracks all operations for auditing and monitoring purposes.</a:t>
            </a:r>
            <a:endParaRPr sz="7200"/>
          </a:p>
          <a:p>
            <a:pPr indent="-342900" lvl="0" marL="457200" rtl="0" algn="just">
              <a:lnSpc>
                <a:spcPct val="150000"/>
              </a:lnSpc>
              <a:spcBef>
                <a:spcPts val="0"/>
              </a:spcBef>
              <a:spcAft>
                <a:spcPts val="0"/>
              </a:spcAft>
              <a:buSzPct val="100000"/>
              <a:buFont typeface="Arial"/>
              <a:buChar char="●"/>
            </a:pPr>
            <a:r>
              <a:rPr b="1" lang="en-US" sz="7200"/>
              <a:t>Disadvantages</a:t>
            </a:r>
            <a:r>
              <a:rPr lang="en-US" sz="7200"/>
              <a:t>:</a:t>
            </a:r>
            <a:endParaRPr sz="7200"/>
          </a:p>
          <a:p>
            <a:pPr indent="-342900" lvl="1" marL="914400" rtl="0" algn="just">
              <a:lnSpc>
                <a:spcPct val="150000"/>
              </a:lnSpc>
              <a:spcBef>
                <a:spcPts val="0"/>
              </a:spcBef>
              <a:spcAft>
                <a:spcPts val="0"/>
              </a:spcAft>
              <a:buSzPct val="100000"/>
              <a:buFont typeface="Calibri"/>
              <a:buAutoNum type="arabicPeriod"/>
            </a:pPr>
            <a:r>
              <a:rPr lang="en-US" sz="7200"/>
              <a:t>Lack of flexibility in handling sudden changes in operational processes.</a:t>
            </a:r>
            <a:endParaRPr sz="7200"/>
          </a:p>
          <a:p>
            <a:pPr indent="-342900" lvl="1" marL="914400" rtl="0" algn="just">
              <a:lnSpc>
                <a:spcPct val="150000"/>
              </a:lnSpc>
              <a:spcBef>
                <a:spcPts val="0"/>
              </a:spcBef>
              <a:spcAft>
                <a:spcPts val="0"/>
              </a:spcAft>
              <a:buSzPct val="100000"/>
              <a:buFont typeface="Calibri"/>
              <a:buAutoNum type="arabicPeriod"/>
            </a:pPr>
            <a:r>
              <a:rPr lang="en-US" sz="7200"/>
              <a:t>High reliance on IT specialists to manage and troubleshoot the system.</a:t>
            </a:r>
            <a:endParaRPr sz="7200"/>
          </a:p>
          <a:p>
            <a:pPr indent="0" lvl="0" marL="0" rtl="0" algn="just">
              <a:lnSpc>
                <a:spcPct val="114000"/>
              </a:lnSpc>
              <a:spcBef>
                <a:spcPts val="1200"/>
              </a:spcBef>
              <a:spcAft>
                <a:spcPts val="0"/>
              </a:spcAft>
              <a:buNone/>
            </a:pPr>
            <a:r>
              <a:t/>
            </a:r>
            <a:endParaRPr sz="5200"/>
          </a:p>
          <a:p>
            <a:pPr indent="-190500" lvl="0" marL="342900" rtl="0" algn="just">
              <a:lnSpc>
                <a:spcPct val="114000"/>
              </a:lnSpc>
              <a:spcBef>
                <a:spcPts val="480"/>
              </a:spcBef>
              <a:spcAft>
                <a:spcPts val="0"/>
              </a:spcAft>
              <a:buClr>
                <a:schemeClr val="dk1"/>
              </a:buClr>
              <a:buSzPts val="600"/>
              <a:buFont typeface="Noto Sans Symbols"/>
              <a:buNone/>
            </a:pPr>
            <a:r>
              <a:t/>
            </a:r>
            <a:endParaRPr sz="500"/>
          </a:p>
          <a:p>
            <a:pPr indent="-190500" lvl="0" marL="342900" rtl="0" algn="just">
              <a:lnSpc>
                <a:spcPct val="114000"/>
              </a:lnSpc>
              <a:spcBef>
                <a:spcPts val="480"/>
              </a:spcBef>
              <a:spcAft>
                <a:spcPts val="0"/>
              </a:spcAft>
              <a:buClr>
                <a:schemeClr val="dk1"/>
              </a:buClr>
              <a:buSzPts val="600"/>
              <a:buFont typeface="Noto Sans Symbols"/>
              <a:buNone/>
            </a:pPr>
            <a:r>
              <a:t/>
            </a:r>
            <a:endParaRPr sz="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8"/>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Main Objective</a:t>
            </a:r>
            <a:endParaRPr>
              <a:latin typeface="Calibri"/>
              <a:ea typeface="Calibri"/>
              <a:cs typeface="Calibri"/>
              <a:sym typeface="Calibri"/>
            </a:endParaRPr>
          </a:p>
        </p:txBody>
      </p:sp>
      <p:sp>
        <p:nvSpPr>
          <p:cNvPr id="134" name="Google Shape;134;p18"/>
          <p:cNvSpPr txBox="1"/>
          <p:nvPr>
            <p:ph idx="1" type="body"/>
          </p:nvPr>
        </p:nvSpPr>
        <p:spPr>
          <a:xfrm>
            <a:off x="241500" y="1170050"/>
            <a:ext cx="8661000" cy="5334000"/>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150000"/>
              </a:lnSpc>
              <a:spcBef>
                <a:spcPts val="1200"/>
              </a:spcBef>
              <a:spcAft>
                <a:spcPts val="0"/>
              </a:spcAft>
              <a:buClr>
                <a:schemeClr val="dk1"/>
              </a:buClr>
              <a:buSzPts val="1100"/>
              <a:buFont typeface="Arial"/>
              <a:buNone/>
            </a:pPr>
            <a:r>
              <a:rPr lang="en-US"/>
              <a:t>  </a:t>
            </a:r>
            <a:r>
              <a:rPr lang="en-US" sz="1800"/>
              <a:t>                      </a:t>
            </a:r>
            <a:r>
              <a:rPr lang="en-US" sz="1800"/>
              <a:t>The primary objective of this project is to develop an automated Library Management System using Robotic Process Automation (RPA) with UiPath to simplify and streamline the core processes involved in managing library operations. This includes automating tasks such as registering new members, managing book inventories, searching for books, tracking book locations, and issuing or returning books. By leveraging automation, the system aims to eliminate manual errors, reduce processing time, and enhance operational efficiency, ensuring that both library staff and users benefit from a seamless and user-friendly experience. The project also integrates features such as data storage in Excel, real-time updates, and automated notifications to improve transparency and accessibility. This scalable and reliable solution minimizes human intervention, reduces administrative workload, and supports libraries in managing larger inventories or user bases effectively while maintaining accuracy and consistency in data handling.</a:t>
            </a:r>
            <a:endParaRPr sz="1800"/>
          </a:p>
          <a:p>
            <a:pPr indent="0" lvl="0" marL="0" rtl="0" algn="l">
              <a:lnSpc>
                <a:spcPct val="114000"/>
              </a:lnSpc>
              <a:spcBef>
                <a:spcPts val="1200"/>
              </a:spcBef>
              <a:spcAft>
                <a:spcPts val="0"/>
              </a:spcAft>
              <a:buNone/>
            </a:pPr>
            <a:r>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9"/>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Architecture</a:t>
            </a:r>
            <a:endParaRPr>
              <a:latin typeface="Calibri"/>
              <a:ea typeface="Calibri"/>
              <a:cs typeface="Calibri"/>
              <a:sym typeface="Calibri"/>
            </a:endParaRPr>
          </a:p>
        </p:txBody>
      </p:sp>
      <p:sp>
        <p:nvSpPr>
          <p:cNvPr id="141" name="Google Shape;141;p19"/>
          <p:cNvSpPr txBox="1"/>
          <p:nvPr>
            <p:ph idx="1" type="body"/>
          </p:nvPr>
        </p:nvSpPr>
        <p:spPr>
          <a:xfrm>
            <a:off x="190500" y="914400"/>
            <a:ext cx="8763000" cy="5334000"/>
          </a:xfrm>
          <a:prstGeom prst="rect">
            <a:avLst/>
          </a:prstGeom>
          <a:noFill/>
          <a:ln>
            <a:noFill/>
          </a:ln>
        </p:spPr>
        <p:txBody>
          <a:bodyPr anchorCtr="0" anchor="t" bIns="45700" lIns="91425" spcFirstLastPara="1" rIns="91425" wrap="square" tIns="45700">
            <a:normAutofit/>
          </a:bodyPr>
          <a:lstStyle/>
          <a:p>
            <a:pPr indent="0" lvl="0" marL="0" rtl="0" algn="l">
              <a:lnSpc>
                <a:spcPct val="114000"/>
              </a:lnSpc>
              <a:spcBef>
                <a:spcPts val="0"/>
              </a:spcBef>
              <a:spcAft>
                <a:spcPts val="0"/>
              </a:spcAft>
              <a:buNone/>
            </a:pPr>
            <a:r>
              <a:rPr lang="en-US"/>
              <a:t>           </a:t>
            </a:r>
            <a:endParaRPr/>
          </a:p>
          <a:p>
            <a:pPr indent="0" lvl="0" marL="0" rtl="0" algn="l">
              <a:lnSpc>
                <a:spcPct val="114000"/>
              </a:lnSpc>
              <a:spcBef>
                <a:spcPts val="0"/>
              </a:spcBef>
              <a:spcAft>
                <a:spcPts val="0"/>
              </a:spcAft>
              <a:buNone/>
            </a:pPr>
            <a:r>
              <a:rPr lang="en-US"/>
              <a:t>           .</a:t>
            </a:r>
            <a:endParaRPr/>
          </a:p>
        </p:txBody>
      </p:sp>
      <p:pic>
        <p:nvPicPr>
          <p:cNvPr id="142" name="Google Shape;142;p19"/>
          <p:cNvPicPr preferRelativeResize="0"/>
          <p:nvPr/>
        </p:nvPicPr>
        <p:blipFill>
          <a:blip r:embed="rId3">
            <a:alphaModFix/>
          </a:blip>
          <a:stretch>
            <a:fillRect/>
          </a:stretch>
        </p:blipFill>
        <p:spPr>
          <a:xfrm>
            <a:off x="798525" y="1139485"/>
            <a:ext cx="7546951" cy="51089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0"/>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System Requirements</a:t>
            </a:r>
            <a:endParaRPr>
              <a:latin typeface="Calibri"/>
              <a:ea typeface="Calibri"/>
              <a:cs typeface="Calibri"/>
              <a:sym typeface="Calibri"/>
            </a:endParaRPr>
          </a:p>
        </p:txBody>
      </p:sp>
      <p:sp>
        <p:nvSpPr>
          <p:cNvPr id="149" name="Google Shape;149;p20"/>
          <p:cNvSpPr txBox="1"/>
          <p:nvPr>
            <p:ph idx="1" type="body"/>
          </p:nvPr>
        </p:nvSpPr>
        <p:spPr>
          <a:xfrm>
            <a:off x="190500" y="976800"/>
            <a:ext cx="8763000" cy="53340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None/>
            </a:pPr>
            <a:r>
              <a:rPr b="1" lang="en-US"/>
              <a:t>Hardware</a:t>
            </a:r>
            <a:endParaRPr b="1"/>
          </a:p>
          <a:p>
            <a:pPr indent="457200" lvl="0" marL="0" rtl="0" algn="just">
              <a:lnSpc>
                <a:spcPct val="150000"/>
              </a:lnSpc>
              <a:spcBef>
                <a:spcPts val="0"/>
              </a:spcBef>
              <a:spcAft>
                <a:spcPts val="0"/>
              </a:spcAft>
              <a:buNone/>
            </a:pPr>
            <a:r>
              <a:rPr b="1" lang="en-US" sz="1800"/>
              <a:t>Processor</a:t>
            </a:r>
            <a:r>
              <a:rPr lang="en-US" sz="1800"/>
              <a:t>: Minimum of Intel Core i3 or higher version for faster processing.</a:t>
            </a:r>
            <a:endParaRPr sz="1800"/>
          </a:p>
          <a:p>
            <a:pPr indent="457200" lvl="0" marL="0" rtl="0" algn="just">
              <a:lnSpc>
                <a:spcPct val="150000"/>
              </a:lnSpc>
              <a:spcBef>
                <a:spcPts val="0"/>
              </a:spcBef>
              <a:spcAft>
                <a:spcPts val="0"/>
              </a:spcAft>
              <a:buNone/>
            </a:pPr>
            <a:r>
              <a:rPr b="1" lang="en-US" sz="1800"/>
              <a:t>RAM</a:t>
            </a:r>
            <a:r>
              <a:rPr lang="en-US" sz="1800"/>
              <a:t>: Minimum of 4 GB or higher to handle  ensure smooth execution.</a:t>
            </a:r>
            <a:endParaRPr sz="1800"/>
          </a:p>
          <a:p>
            <a:pPr indent="457200" lvl="0" marL="0" rtl="0" algn="just">
              <a:lnSpc>
                <a:spcPct val="150000"/>
              </a:lnSpc>
              <a:spcBef>
                <a:spcPts val="0"/>
              </a:spcBef>
              <a:spcAft>
                <a:spcPts val="0"/>
              </a:spcAft>
              <a:buNone/>
            </a:pPr>
            <a:r>
              <a:rPr b="1" lang="en-US" sz="1800"/>
              <a:t>Storage</a:t>
            </a:r>
            <a:r>
              <a:rPr lang="en-US" sz="1800"/>
              <a:t>:Minimum: 20 GB free space for quicker application and data  handling.</a:t>
            </a:r>
            <a:endParaRPr sz="1800"/>
          </a:p>
          <a:p>
            <a:pPr indent="457200" lvl="0" marL="0" rtl="0" algn="just">
              <a:lnSpc>
                <a:spcPct val="150000"/>
              </a:lnSpc>
              <a:spcBef>
                <a:spcPts val="0"/>
              </a:spcBef>
              <a:spcAft>
                <a:spcPts val="0"/>
              </a:spcAft>
              <a:buNone/>
            </a:pPr>
            <a:r>
              <a:rPr b="1" lang="en-US" sz="1800"/>
              <a:t>Network</a:t>
            </a:r>
            <a:r>
              <a:rPr lang="en-US" sz="1800"/>
              <a:t>:Stable internet connection for cloud resources, email , and OTP verification.</a:t>
            </a:r>
            <a:endParaRPr sz="1800"/>
          </a:p>
          <a:p>
            <a:pPr indent="0" lvl="0" marL="0" rtl="0" algn="just">
              <a:lnSpc>
                <a:spcPct val="150000"/>
              </a:lnSpc>
              <a:spcBef>
                <a:spcPts val="1200"/>
              </a:spcBef>
              <a:spcAft>
                <a:spcPts val="0"/>
              </a:spcAft>
              <a:buNone/>
            </a:pPr>
            <a:r>
              <a:rPr b="1" lang="en-US" sz="2500"/>
              <a:t>Software</a:t>
            </a:r>
            <a:endParaRPr b="1" sz="2500"/>
          </a:p>
          <a:p>
            <a:pPr indent="457200" lvl="0" marL="0" rtl="0" algn="just">
              <a:lnSpc>
                <a:spcPct val="150000"/>
              </a:lnSpc>
              <a:spcBef>
                <a:spcPts val="1200"/>
              </a:spcBef>
              <a:spcAft>
                <a:spcPts val="0"/>
              </a:spcAft>
              <a:buNone/>
            </a:pPr>
            <a:r>
              <a:rPr b="1" lang="en-US" sz="1800"/>
              <a:t>Operating System</a:t>
            </a:r>
            <a:r>
              <a:rPr lang="en-US" sz="1800"/>
              <a:t>:Minimum: Windows 10 (64-bit) or higher.</a:t>
            </a:r>
            <a:endParaRPr sz="1800"/>
          </a:p>
          <a:p>
            <a:pPr indent="457200" lvl="0" marL="0" rtl="0" algn="just">
              <a:lnSpc>
                <a:spcPct val="150000"/>
              </a:lnSpc>
              <a:spcBef>
                <a:spcPts val="1200"/>
              </a:spcBef>
              <a:spcAft>
                <a:spcPts val="0"/>
              </a:spcAft>
              <a:buNone/>
            </a:pPr>
            <a:r>
              <a:rPr b="1" lang="en-US" sz="1800"/>
              <a:t>RPA Software:</a:t>
            </a:r>
            <a:r>
              <a:rPr lang="en-US" sz="1800"/>
              <a:t>UiPath Studio and UiPath Robot for workflow execution.</a:t>
            </a:r>
            <a:endParaRPr sz="1800"/>
          </a:p>
          <a:p>
            <a:pPr indent="0" lvl="0" marL="457200" rtl="0" algn="just">
              <a:lnSpc>
                <a:spcPct val="150000"/>
              </a:lnSpc>
              <a:spcBef>
                <a:spcPts val="1200"/>
              </a:spcBef>
              <a:spcAft>
                <a:spcPts val="0"/>
              </a:spcAft>
              <a:buNone/>
            </a:pPr>
            <a:r>
              <a:rPr b="1" lang="en-US" sz="1800"/>
              <a:t>Database/Storage</a:t>
            </a:r>
            <a:r>
              <a:rPr lang="en-US" sz="1800"/>
              <a:t>:Microsoft Excel (for small to medium datasets).</a:t>
            </a:r>
            <a:endParaRPr sz="1800"/>
          </a:p>
          <a:p>
            <a:pPr indent="0" lvl="0" marL="457200" rtl="0" algn="just">
              <a:lnSpc>
                <a:spcPct val="150000"/>
              </a:lnSpc>
              <a:spcBef>
                <a:spcPts val="1200"/>
              </a:spcBef>
              <a:spcAft>
                <a:spcPts val="200"/>
              </a:spcAft>
              <a:buNone/>
            </a:pPr>
            <a:r>
              <a:rPr b="1" lang="en-US" sz="1800"/>
              <a:t>Web Browser</a:t>
            </a:r>
            <a:r>
              <a:rPr lang="en-US" sz="1800"/>
              <a:t>:Google Chrome, Microsoft Edge, or Mozilla Firefox.</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1"/>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Table Design</a:t>
            </a:r>
            <a:endParaRPr>
              <a:latin typeface="Calibri"/>
              <a:ea typeface="Calibri"/>
              <a:cs typeface="Calibri"/>
              <a:sym typeface="Calibri"/>
            </a:endParaRPr>
          </a:p>
        </p:txBody>
      </p:sp>
      <p:sp>
        <p:nvSpPr>
          <p:cNvPr id="156" name="Google Shape;156;p21"/>
          <p:cNvSpPr txBox="1"/>
          <p:nvPr>
            <p:ph idx="1" type="body"/>
          </p:nvPr>
        </p:nvSpPr>
        <p:spPr>
          <a:xfrm>
            <a:off x="190500" y="914400"/>
            <a:ext cx="8763000" cy="5410200"/>
          </a:xfrm>
          <a:prstGeom prst="rect">
            <a:avLst/>
          </a:prstGeom>
          <a:noFill/>
          <a:ln>
            <a:noFill/>
          </a:ln>
        </p:spPr>
        <p:txBody>
          <a:bodyPr anchorCtr="0" anchor="t" bIns="45700" lIns="91425" spcFirstLastPara="1" rIns="91425" wrap="square" tIns="45700">
            <a:noAutofit/>
          </a:bodyPr>
          <a:lstStyle/>
          <a:p>
            <a:pPr indent="0" lvl="0" marL="0" rtl="0" algn="just">
              <a:lnSpc>
                <a:spcPct val="130000"/>
              </a:lnSpc>
              <a:spcBef>
                <a:spcPts val="1200"/>
              </a:spcBef>
              <a:spcAft>
                <a:spcPts val="0"/>
              </a:spcAft>
              <a:buClr>
                <a:schemeClr val="dk1"/>
              </a:buClr>
              <a:buSzPts val="1018"/>
              <a:buFont typeface="Arial"/>
              <a:buNone/>
            </a:pPr>
            <a:r>
              <a:rPr b="1" lang="en-US" sz="1865"/>
              <a:t>1. Book Details Table</a:t>
            </a:r>
            <a:br>
              <a:rPr b="1" lang="en-US" sz="1865"/>
            </a:br>
            <a:r>
              <a:rPr b="1" lang="en-US" sz="1865"/>
              <a:t>		</a:t>
            </a:r>
            <a:r>
              <a:rPr lang="en-US" sz="1865"/>
              <a:t>This table stores information about the books in the library system. It includes the book’s name, as well as its specific location within the library, which is divided into cupboard, row, and position. This allows the automation to efficiently locate any book based on the name entered or retrieved from an input source, ensuring that the book's exact position is easily identified for subsequent actions.</a:t>
            </a:r>
            <a:endParaRPr sz="1865"/>
          </a:p>
          <a:p>
            <a:pPr indent="0" lvl="0" marL="0" rtl="0" algn="just">
              <a:lnSpc>
                <a:spcPct val="130000"/>
              </a:lnSpc>
              <a:spcBef>
                <a:spcPts val="1200"/>
              </a:spcBef>
              <a:spcAft>
                <a:spcPts val="0"/>
              </a:spcAft>
              <a:buClr>
                <a:schemeClr val="dk1"/>
              </a:buClr>
              <a:buSzPts val="1018"/>
              <a:buFont typeface="Arial"/>
              <a:buNone/>
            </a:pPr>
            <a:r>
              <a:rPr b="1" lang="en-US" sz="1865"/>
              <a:t>2. Member Details Table</a:t>
            </a:r>
            <a:br>
              <a:rPr b="1" lang="en-US" sz="1865"/>
            </a:br>
            <a:r>
              <a:rPr b="1" lang="en-US" sz="1865"/>
              <a:t>		</a:t>
            </a:r>
            <a:r>
              <a:rPr lang="en-US" sz="1865"/>
              <a:t>This table contains personal information for each library member, such as their name, phone number, email address, and physical address. This data is essential for tasks like verifying member details, sending notifications, or processing membership-related actions. The table ensures that member data is structured and accessible for automated processes, such as OTP verification or communication.</a:t>
            </a:r>
            <a:endParaRPr sz="1865"/>
          </a:p>
          <a:p>
            <a:pPr indent="0" lvl="0" marL="0" rtl="0" algn="l">
              <a:lnSpc>
                <a:spcPct val="94000"/>
              </a:lnSpc>
              <a:spcBef>
                <a:spcPts val="1200"/>
              </a:spcBef>
              <a:spcAft>
                <a:spcPts val="0"/>
              </a:spcAft>
              <a:buSzPts val="1018"/>
              <a:buNone/>
            </a:pPr>
            <a:r>
              <a:t/>
            </a:r>
            <a:endParaRPr sz="2220"/>
          </a:p>
        </p:txBody>
      </p:sp>
      <p:sp>
        <p:nvSpPr>
          <p:cNvPr id="157" name="Google Shape;157;p21"/>
          <p:cNvSpPr txBox="1"/>
          <p:nvPr/>
        </p:nvSpPr>
        <p:spPr>
          <a:xfrm>
            <a:off x="778250" y="4119550"/>
            <a:ext cx="3000000" cy="2148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t/>
            </a:r>
            <a:endParaRPr b="1" sz="13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2"/>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Process Design</a:t>
            </a:r>
            <a:endParaRPr>
              <a:latin typeface="Calibri"/>
              <a:ea typeface="Calibri"/>
              <a:cs typeface="Calibri"/>
              <a:sym typeface="Calibri"/>
            </a:endParaRPr>
          </a:p>
        </p:txBody>
      </p:sp>
      <p:sp>
        <p:nvSpPr>
          <p:cNvPr id="164" name="Google Shape;164;p22"/>
          <p:cNvSpPr txBox="1"/>
          <p:nvPr>
            <p:ph idx="1" type="body"/>
          </p:nvPr>
        </p:nvSpPr>
        <p:spPr>
          <a:xfrm>
            <a:off x="190500" y="914400"/>
            <a:ext cx="8763000" cy="53340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1400"/>
              </a:spcBef>
              <a:spcAft>
                <a:spcPts val="0"/>
              </a:spcAft>
              <a:buClr>
                <a:schemeClr val="dk1"/>
              </a:buClr>
              <a:buSzPts val="852"/>
              <a:buFont typeface="Arial"/>
              <a:buNone/>
            </a:pPr>
            <a:r>
              <a:rPr b="1" lang="en-US" sz="1795"/>
              <a:t>                    Input Data Collection:</a:t>
            </a:r>
            <a:r>
              <a:rPr lang="en-US" sz="1795"/>
              <a:t>The process begins by reading the input data, such as book details or member information, from an Excel file. This is achieved using the </a:t>
            </a:r>
            <a:r>
              <a:rPr b="1" lang="en-US" sz="1795"/>
              <a:t>Excel Application Scope</a:t>
            </a:r>
            <a:r>
              <a:rPr lang="en-US" sz="1795"/>
              <a:t> and </a:t>
            </a:r>
            <a:r>
              <a:rPr b="1" lang="en-US" sz="1795"/>
              <a:t>Read Range</a:t>
            </a:r>
            <a:r>
              <a:rPr lang="en-US" sz="1795"/>
              <a:t> activities in UiPath.</a:t>
            </a:r>
            <a:r>
              <a:rPr b="1" lang="en-US" sz="1795"/>
              <a:t>Data Processing and Validation:</a:t>
            </a:r>
            <a:r>
              <a:rPr lang="en-US" sz="1795"/>
              <a:t>Once the data is collected, it is iterated through row by row using the </a:t>
            </a:r>
            <a:r>
              <a:rPr b="1" lang="en-US" sz="1795"/>
              <a:t>For Each Row</a:t>
            </a:r>
            <a:r>
              <a:rPr lang="en-US" sz="1795"/>
              <a:t> activity. During this stage, inputs are validated using </a:t>
            </a:r>
            <a:r>
              <a:rPr b="1" lang="en-US" sz="1795"/>
              <a:t>If</a:t>
            </a:r>
            <a:r>
              <a:rPr lang="en-US" sz="1795"/>
              <a:t> conditions.</a:t>
            </a:r>
            <a:r>
              <a:rPr b="1" lang="en-US" sz="1795"/>
              <a:t>Task Automation:</a:t>
            </a:r>
            <a:r>
              <a:rPr lang="en-US" sz="1795"/>
              <a:t>In this stage, the automation dynamically performs tasks based on the processed data. For a library system, it searches for books and identifies their location (e.g., cupboard, row, and position).  This is done through a </a:t>
            </a:r>
            <a:r>
              <a:rPr b="1" lang="en-US" sz="1795"/>
              <a:t>Message Box</a:t>
            </a:r>
            <a:r>
              <a:rPr lang="en-US" sz="1795"/>
              <a:t> or by sending an email using the </a:t>
            </a:r>
            <a:r>
              <a:rPr b="1" lang="en-US" sz="1795"/>
              <a:t>Send SMTP Mail Message</a:t>
            </a:r>
            <a:r>
              <a:rPr lang="en-US" sz="1795"/>
              <a:t> activity.</a:t>
            </a:r>
            <a:r>
              <a:rPr b="1" lang="en-US" sz="1795"/>
              <a:t>Output and Reporting:</a:t>
            </a:r>
            <a:r>
              <a:rPr lang="en-US" sz="1795"/>
              <a:t>Processed data, such as book locations, new member records, or form submission statuses, is written back into an Excel file using the </a:t>
            </a:r>
            <a:r>
              <a:rPr b="1" lang="en-US" sz="1795"/>
              <a:t>Write Range</a:t>
            </a:r>
            <a:r>
              <a:rPr lang="en-US" sz="1795"/>
              <a:t> activity. </a:t>
            </a:r>
            <a:r>
              <a:rPr b="1" lang="en-US" sz="1795"/>
              <a:t>Error Handling and Logging:</a:t>
            </a:r>
            <a:r>
              <a:rPr lang="en-US" sz="1795"/>
              <a:t>To make the workflow robust, critical sections are enclosed within a </a:t>
            </a:r>
            <a:r>
              <a:rPr b="1" lang="en-US" sz="1795"/>
              <a:t>Try Catch</a:t>
            </a:r>
            <a:r>
              <a:rPr lang="en-US" sz="1795"/>
              <a:t> block to handle exceptions gracefully. For example, it can handle issues like missing files or application errors without interrupting the entire process. </a:t>
            </a:r>
            <a:endParaRPr sz="1795"/>
          </a:p>
          <a:p>
            <a:pPr indent="0" lvl="0" marL="0" rtl="0" algn="l">
              <a:lnSpc>
                <a:spcPct val="114000"/>
              </a:lnSpc>
              <a:spcBef>
                <a:spcPts val="400"/>
              </a:spcBef>
              <a:spcAft>
                <a:spcPts val="0"/>
              </a:spcAft>
              <a:buSzPts val="852"/>
              <a:buNone/>
            </a:pPr>
            <a:r>
              <a:t/>
            </a:r>
            <a:endParaRPr sz="852">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3"/>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Implementation</a:t>
            </a:r>
            <a:endParaRPr>
              <a:latin typeface="Calibri"/>
              <a:ea typeface="Calibri"/>
              <a:cs typeface="Calibri"/>
              <a:sym typeface="Calibri"/>
            </a:endParaRPr>
          </a:p>
        </p:txBody>
      </p:sp>
      <p:sp>
        <p:nvSpPr>
          <p:cNvPr id="171" name="Google Shape;171;p23"/>
          <p:cNvSpPr txBox="1"/>
          <p:nvPr>
            <p:ph idx="1" type="body"/>
          </p:nvPr>
        </p:nvSpPr>
        <p:spPr>
          <a:xfrm>
            <a:off x="320250" y="990600"/>
            <a:ext cx="8531100" cy="5334000"/>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lnSpc>
                <a:spcPct val="115000"/>
              </a:lnSpc>
              <a:spcBef>
                <a:spcPts val="0"/>
              </a:spcBef>
              <a:spcAft>
                <a:spcPts val="0"/>
              </a:spcAft>
              <a:buClr>
                <a:schemeClr val="dk1"/>
              </a:buClr>
              <a:buSzPct val="100000"/>
              <a:buFont typeface="Arial"/>
              <a:buNone/>
            </a:pPr>
            <a:r>
              <a:t/>
            </a:r>
            <a:endParaRPr sz="1100">
              <a:latin typeface="Arial"/>
              <a:ea typeface="Arial"/>
              <a:cs typeface="Arial"/>
              <a:sym typeface="Arial"/>
            </a:endParaRPr>
          </a:p>
          <a:p>
            <a:pPr indent="-348297" lvl="0" marL="457200" rtl="0" algn="just">
              <a:lnSpc>
                <a:spcPct val="150000"/>
              </a:lnSpc>
              <a:spcBef>
                <a:spcPts val="1200"/>
              </a:spcBef>
              <a:spcAft>
                <a:spcPts val="0"/>
              </a:spcAft>
              <a:buSzPct val="100000"/>
              <a:buFont typeface="Arial"/>
              <a:buAutoNum type="arabicPeriod"/>
            </a:pPr>
            <a:r>
              <a:rPr b="1" lang="en-US" sz="2217"/>
              <a:t>Data Retrieval:</a:t>
            </a:r>
            <a:r>
              <a:rPr lang="en-US" sz="2217"/>
              <a:t>Uses </a:t>
            </a:r>
            <a:r>
              <a:rPr b="1" lang="en-US" sz="2217"/>
              <a:t>Excel Application Scope</a:t>
            </a:r>
            <a:r>
              <a:rPr lang="en-US" sz="2217"/>
              <a:t> and </a:t>
            </a:r>
            <a:r>
              <a:rPr b="1" lang="en-US" sz="2217"/>
              <a:t>Read Range</a:t>
            </a:r>
            <a:r>
              <a:rPr lang="en-US" sz="2217"/>
              <a:t> to fetch input data (e.g., book details, member details) from an Excel file and store it in a DataTable.</a:t>
            </a:r>
            <a:endParaRPr sz="2217"/>
          </a:p>
          <a:p>
            <a:pPr indent="-348297" lvl="0" marL="457200" rtl="0" algn="just">
              <a:lnSpc>
                <a:spcPct val="150000"/>
              </a:lnSpc>
              <a:spcBef>
                <a:spcPts val="0"/>
              </a:spcBef>
              <a:spcAft>
                <a:spcPts val="0"/>
              </a:spcAft>
              <a:buSzPct val="100000"/>
              <a:buFont typeface="Arial"/>
              <a:buAutoNum type="arabicPeriod"/>
            </a:pPr>
            <a:r>
              <a:rPr b="1" lang="en-US" sz="2217"/>
              <a:t>Task Execution:</a:t>
            </a:r>
            <a:r>
              <a:rPr lang="en-US" sz="2217"/>
              <a:t>Implements a </a:t>
            </a:r>
            <a:r>
              <a:rPr b="1" lang="en-US" sz="2217"/>
              <a:t>For Each Row</a:t>
            </a:r>
            <a:r>
              <a:rPr lang="en-US" sz="2217"/>
              <a:t> loop to process the data row by row.Performs automated actions like searching for books, filling forms, and validating inputs using activities such as </a:t>
            </a:r>
            <a:r>
              <a:rPr b="1" lang="en-US" sz="2217"/>
              <a:t>Type Into</a:t>
            </a:r>
            <a:r>
              <a:rPr lang="en-US" sz="2217"/>
              <a:t>, </a:t>
            </a:r>
            <a:r>
              <a:rPr b="1" lang="en-US" sz="2217"/>
              <a:t>Click</a:t>
            </a:r>
            <a:r>
              <a:rPr lang="en-US" sz="2217"/>
              <a:t>, </a:t>
            </a:r>
            <a:r>
              <a:rPr b="1" lang="en-US" sz="2217"/>
              <a:t>If</a:t>
            </a:r>
            <a:r>
              <a:rPr lang="en-US" sz="2217"/>
              <a:t>, and </a:t>
            </a:r>
            <a:r>
              <a:rPr b="1" lang="en-US" sz="2217"/>
              <a:t>Assign</a:t>
            </a:r>
            <a:r>
              <a:rPr lang="en-US" sz="2217"/>
              <a:t>.</a:t>
            </a:r>
            <a:endParaRPr sz="2217"/>
          </a:p>
          <a:p>
            <a:pPr indent="-348297" lvl="0" marL="457200" rtl="0" algn="just">
              <a:lnSpc>
                <a:spcPct val="150000"/>
              </a:lnSpc>
              <a:spcBef>
                <a:spcPts val="0"/>
              </a:spcBef>
              <a:spcAft>
                <a:spcPts val="0"/>
              </a:spcAft>
              <a:buSzPct val="100000"/>
              <a:buFont typeface="Arial"/>
              <a:buAutoNum type="arabicPeriod"/>
            </a:pPr>
            <a:r>
              <a:rPr b="1" lang="en-US" sz="2217"/>
              <a:t>Validation and Notifications:</a:t>
            </a:r>
            <a:r>
              <a:rPr lang="en-US" sz="2217"/>
              <a:t>Validates user inputs or system outputs (e.g., verifying book locations or application details).Sends feedback or confirmation using </a:t>
            </a:r>
            <a:r>
              <a:rPr b="1" lang="en-US" sz="2217"/>
              <a:t>Message Box</a:t>
            </a:r>
            <a:r>
              <a:rPr lang="en-US" sz="2217"/>
              <a:t> or </a:t>
            </a:r>
            <a:r>
              <a:rPr b="1" lang="en-US" sz="2217"/>
              <a:t>Send SMTP Mail Message</a:t>
            </a:r>
            <a:r>
              <a:rPr lang="en-US" sz="2217"/>
              <a:t> activities.</a:t>
            </a:r>
            <a:endParaRPr sz="2217"/>
          </a:p>
          <a:p>
            <a:pPr indent="-348297" lvl="0" marL="457200" rtl="0" algn="just">
              <a:lnSpc>
                <a:spcPct val="150000"/>
              </a:lnSpc>
              <a:spcBef>
                <a:spcPts val="0"/>
              </a:spcBef>
              <a:spcAft>
                <a:spcPts val="0"/>
              </a:spcAft>
              <a:buSzPct val="100000"/>
              <a:buFont typeface="Arial"/>
              <a:buAutoNum type="arabicPeriod"/>
            </a:pPr>
            <a:r>
              <a:rPr b="1" lang="en-US" sz="2217"/>
              <a:t>Output and Reporting:</a:t>
            </a:r>
            <a:r>
              <a:rPr lang="en-US" sz="2217"/>
              <a:t>Writes processed data or results back into an Excel file using </a:t>
            </a:r>
            <a:r>
              <a:rPr b="1" lang="en-US" sz="2217"/>
              <a:t>Write Range</a:t>
            </a:r>
            <a:r>
              <a:rPr lang="en-US" sz="2217"/>
              <a:t>.Generates basic reports or summaries of actions performed.</a:t>
            </a:r>
            <a:endParaRPr sz="2217"/>
          </a:p>
          <a:p>
            <a:pPr indent="0" lvl="0" marL="0" rtl="0" algn="l">
              <a:lnSpc>
                <a:spcPct val="115000"/>
              </a:lnSpc>
              <a:spcBef>
                <a:spcPts val="1200"/>
              </a:spcBef>
              <a:spcAft>
                <a:spcPts val="0"/>
              </a:spcAft>
              <a:buClr>
                <a:schemeClr val="dk1"/>
              </a:buClr>
              <a:buSzPct val="100000"/>
              <a:buFont typeface="Arial"/>
              <a:buNone/>
            </a:pPr>
            <a:r>
              <a:t/>
            </a:r>
            <a:endParaRPr sz="1100">
              <a:latin typeface="Arial"/>
              <a:ea typeface="Arial"/>
              <a:cs typeface="Arial"/>
              <a:sym typeface="Arial"/>
            </a:endParaRPr>
          </a:p>
          <a:p>
            <a:pPr indent="0" lvl="0" marL="152400" rtl="0" algn="l">
              <a:lnSpc>
                <a:spcPct val="114000"/>
              </a:lnSpc>
              <a:spcBef>
                <a:spcPts val="1200"/>
              </a:spcBef>
              <a:spcAft>
                <a:spcPts val="0"/>
              </a:spcAft>
              <a:buClr>
                <a:schemeClr val="dk1"/>
              </a:buClr>
              <a:buSzPct val="100000"/>
              <a:buFont typeface="Noto Sans Symbols"/>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4"/>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Testing</a:t>
            </a:r>
            <a:endParaRPr>
              <a:latin typeface="Calibri"/>
              <a:ea typeface="Calibri"/>
              <a:cs typeface="Calibri"/>
              <a:sym typeface="Calibri"/>
            </a:endParaRPr>
          </a:p>
        </p:txBody>
      </p:sp>
      <p:sp>
        <p:nvSpPr>
          <p:cNvPr id="178" name="Google Shape;178;p24"/>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0" rtl="0" algn="l">
              <a:lnSpc>
                <a:spcPct val="114000"/>
              </a:lnSpc>
              <a:spcBef>
                <a:spcPts val="480"/>
              </a:spcBef>
              <a:spcAft>
                <a:spcPts val="0"/>
              </a:spcAft>
              <a:buNone/>
            </a:pPr>
            <a:r>
              <a:rPr lang="en-US"/>
              <a:t>BOOKS  AVAILABLE      AFTER STORING           PROCESS TESTING</a:t>
            </a:r>
            <a:endParaRPr/>
          </a:p>
          <a:p>
            <a:pPr indent="0" lvl="0" marL="0" rtl="0" algn="l">
              <a:lnSpc>
                <a:spcPct val="114000"/>
              </a:lnSpc>
              <a:spcBef>
                <a:spcPts val="480"/>
              </a:spcBef>
              <a:spcAft>
                <a:spcPts val="0"/>
              </a:spcAft>
              <a:buNone/>
            </a:pPr>
            <a:r>
              <a:t/>
            </a:r>
            <a:endParaRPr/>
          </a:p>
          <a:p>
            <a:pPr indent="0" lvl="0" marL="0" rtl="0" algn="l">
              <a:lnSpc>
                <a:spcPct val="114000"/>
              </a:lnSpc>
              <a:spcBef>
                <a:spcPts val="480"/>
              </a:spcBef>
              <a:spcAft>
                <a:spcPts val="0"/>
              </a:spcAft>
              <a:buNone/>
            </a:pPr>
            <a:r>
              <a:t/>
            </a:r>
            <a:endParaRPr/>
          </a:p>
          <a:p>
            <a:pPr indent="0" lvl="0" marL="0" rtl="0" algn="l">
              <a:lnSpc>
                <a:spcPct val="114000"/>
              </a:lnSpc>
              <a:spcBef>
                <a:spcPts val="480"/>
              </a:spcBef>
              <a:spcAft>
                <a:spcPts val="0"/>
              </a:spcAft>
              <a:buNone/>
            </a:pPr>
            <a:r>
              <a:rPr lang="en-US"/>
              <a:t>          </a:t>
            </a:r>
            <a:endParaRPr/>
          </a:p>
          <a:p>
            <a:pPr indent="0" lvl="0" marL="0" rtl="0" algn="l">
              <a:lnSpc>
                <a:spcPct val="114000"/>
              </a:lnSpc>
              <a:spcBef>
                <a:spcPts val="480"/>
              </a:spcBef>
              <a:spcAft>
                <a:spcPts val="0"/>
              </a:spcAft>
              <a:buNone/>
            </a:pPr>
            <a:r>
              <a:t/>
            </a:r>
            <a:endParaRPr/>
          </a:p>
          <a:p>
            <a:pPr indent="0" lvl="0" marL="0" rtl="0" algn="l">
              <a:lnSpc>
                <a:spcPct val="114000"/>
              </a:lnSpc>
              <a:spcBef>
                <a:spcPts val="480"/>
              </a:spcBef>
              <a:spcAft>
                <a:spcPts val="0"/>
              </a:spcAft>
              <a:buNone/>
            </a:pPr>
            <a:r>
              <a:t/>
            </a:r>
            <a:endParaRPr/>
          </a:p>
          <a:p>
            <a:pPr indent="0" lvl="0" marL="0" rtl="0" algn="l">
              <a:lnSpc>
                <a:spcPct val="114000"/>
              </a:lnSpc>
              <a:spcBef>
                <a:spcPts val="480"/>
              </a:spcBef>
              <a:spcAft>
                <a:spcPts val="0"/>
              </a:spcAft>
              <a:buNone/>
            </a:pPr>
            <a:r>
              <a:t/>
            </a:r>
            <a:endParaRPr/>
          </a:p>
          <a:p>
            <a:pPr indent="-190500" lvl="0" marL="342900" rtl="0" algn="l">
              <a:lnSpc>
                <a:spcPct val="114000"/>
              </a:lnSpc>
              <a:spcBef>
                <a:spcPts val="480"/>
              </a:spcBef>
              <a:spcAft>
                <a:spcPts val="0"/>
              </a:spcAft>
              <a:buClr>
                <a:schemeClr val="dk1"/>
              </a:buClr>
              <a:buSzPts val="2400"/>
              <a:buFont typeface="Noto Sans Symbols"/>
              <a:buNone/>
            </a:pPr>
            <a:r>
              <a:t/>
            </a:r>
            <a:endParaRPr/>
          </a:p>
        </p:txBody>
      </p:sp>
      <p:pic>
        <p:nvPicPr>
          <p:cNvPr id="179" name="Google Shape;179;p24"/>
          <p:cNvPicPr preferRelativeResize="0"/>
          <p:nvPr/>
        </p:nvPicPr>
        <p:blipFill>
          <a:blip r:embed="rId3">
            <a:alphaModFix/>
          </a:blip>
          <a:stretch>
            <a:fillRect/>
          </a:stretch>
        </p:blipFill>
        <p:spPr>
          <a:xfrm>
            <a:off x="190500" y="1510175"/>
            <a:ext cx="2415275" cy="4565925"/>
          </a:xfrm>
          <a:prstGeom prst="rect">
            <a:avLst/>
          </a:prstGeom>
          <a:noFill/>
          <a:ln>
            <a:noFill/>
          </a:ln>
        </p:spPr>
      </p:pic>
      <p:pic>
        <p:nvPicPr>
          <p:cNvPr id="180" name="Google Shape;180;p24"/>
          <p:cNvPicPr preferRelativeResize="0"/>
          <p:nvPr/>
        </p:nvPicPr>
        <p:blipFill>
          <a:blip r:embed="rId4">
            <a:alphaModFix/>
          </a:blip>
          <a:stretch>
            <a:fillRect/>
          </a:stretch>
        </p:blipFill>
        <p:spPr>
          <a:xfrm>
            <a:off x="2800150" y="1510175"/>
            <a:ext cx="2236274" cy="2279750"/>
          </a:xfrm>
          <a:prstGeom prst="rect">
            <a:avLst/>
          </a:prstGeom>
          <a:noFill/>
          <a:ln>
            <a:noFill/>
          </a:ln>
        </p:spPr>
      </p:pic>
      <p:pic>
        <p:nvPicPr>
          <p:cNvPr id="181" name="Google Shape;181;p24"/>
          <p:cNvPicPr preferRelativeResize="0"/>
          <p:nvPr/>
        </p:nvPicPr>
        <p:blipFill>
          <a:blip r:embed="rId5">
            <a:alphaModFix/>
          </a:blip>
          <a:stretch>
            <a:fillRect/>
          </a:stretch>
        </p:blipFill>
        <p:spPr>
          <a:xfrm>
            <a:off x="2731125" y="3977525"/>
            <a:ext cx="1438623" cy="1363975"/>
          </a:xfrm>
          <a:prstGeom prst="rect">
            <a:avLst/>
          </a:prstGeom>
          <a:noFill/>
          <a:ln>
            <a:noFill/>
          </a:ln>
        </p:spPr>
      </p:pic>
      <p:pic>
        <p:nvPicPr>
          <p:cNvPr id="182" name="Google Shape;182;p24"/>
          <p:cNvPicPr preferRelativeResize="0"/>
          <p:nvPr/>
        </p:nvPicPr>
        <p:blipFill>
          <a:blip r:embed="rId6">
            <a:alphaModFix/>
          </a:blip>
          <a:stretch>
            <a:fillRect/>
          </a:stretch>
        </p:blipFill>
        <p:spPr>
          <a:xfrm>
            <a:off x="5351025" y="1579200"/>
            <a:ext cx="3500325" cy="1480900"/>
          </a:xfrm>
          <a:prstGeom prst="rect">
            <a:avLst/>
          </a:prstGeom>
          <a:noFill/>
          <a:ln>
            <a:noFill/>
          </a:ln>
        </p:spPr>
      </p:pic>
      <p:pic>
        <p:nvPicPr>
          <p:cNvPr id="183" name="Google Shape;183;p24"/>
          <p:cNvPicPr preferRelativeResize="0"/>
          <p:nvPr/>
        </p:nvPicPr>
        <p:blipFill>
          <a:blip r:embed="rId7">
            <a:alphaModFix/>
          </a:blip>
          <a:stretch>
            <a:fillRect/>
          </a:stretch>
        </p:blipFill>
        <p:spPr>
          <a:xfrm>
            <a:off x="5761949" y="3154287"/>
            <a:ext cx="2415276" cy="1277689"/>
          </a:xfrm>
          <a:prstGeom prst="rect">
            <a:avLst/>
          </a:prstGeom>
          <a:noFill/>
          <a:ln>
            <a:noFill/>
          </a:ln>
        </p:spPr>
      </p:pic>
      <p:pic>
        <p:nvPicPr>
          <p:cNvPr id="184" name="Google Shape;184;p24"/>
          <p:cNvPicPr preferRelativeResize="0"/>
          <p:nvPr/>
        </p:nvPicPr>
        <p:blipFill>
          <a:blip r:embed="rId8">
            <a:alphaModFix/>
          </a:blip>
          <a:stretch>
            <a:fillRect/>
          </a:stretch>
        </p:blipFill>
        <p:spPr>
          <a:xfrm>
            <a:off x="4255424" y="4712125"/>
            <a:ext cx="4888575" cy="1363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5"/>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Conclusions</a:t>
            </a:r>
            <a:endParaRPr>
              <a:latin typeface="Calibri"/>
              <a:ea typeface="Calibri"/>
              <a:cs typeface="Calibri"/>
              <a:sym typeface="Calibri"/>
            </a:endParaRPr>
          </a:p>
        </p:txBody>
      </p:sp>
      <p:sp>
        <p:nvSpPr>
          <p:cNvPr id="191" name="Google Shape;191;p25"/>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None/>
            </a:pPr>
            <a:r>
              <a:rPr lang="en-US"/>
              <a:t>                   </a:t>
            </a:r>
            <a:r>
              <a:rPr lang="en-US" sz="1800"/>
              <a:t>The Library Management Bot developed using UiPath successfully automates the process of locating books within a library system. By leveraging UiPath’s capabilities, the bot reads an input Excel file containing book details and categorizes books into different cupboards based on their serial number. This reduces the time required to find a specific book and improves the efficiency of library management. The bot's user interaction module allows users to easily search for books by name, returning the cupboard and row location where the book is stored. Future enhancements could include integrating a database to handle dynamic updates and expanding the bot’s functionality to manage book checkouts and returns.</a:t>
            </a:r>
            <a:endParaRPr sz="1800"/>
          </a:p>
          <a:p>
            <a:pPr indent="-190500" lvl="0" marL="342900" rtl="0" algn="just">
              <a:lnSpc>
                <a:spcPct val="150000"/>
              </a:lnSpc>
              <a:spcBef>
                <a:spcPts val="480"/>
              </a:spcBef>
              <a:spcAft>
                <a:spcPts val="0"/>
              </a:spcAft>
              <a:buClr>
                <a:schemeClr val="dk1"/>
              </a:buClr>
              <a:buSzPts val="2400"/>
              <a:buFont typeface="Noto Sans Symbols"/>
              <a:buNone/>
            </a:pPr>
            <a:r>
              <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6"/>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Future Enhancement</a:t>
            </a:r>
            <a:endParaRPr>
              <a:latin typeface="Calibri"/>
              <a:ea typeface="Calibri"/>
              <a:cs typeface="Calibri"/>
              <a:sym typeface="Calibri"/>
            </a:endParaRPr>
          </a:p>
        </p:txBody>
      </p:sp>
      <p:sp>
        <p:nvSpPr>
          <p:cNvPr id="198" name="Google Shape;198;p26"/>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fontScale="25000" lnSpcReduction="10000"/>
          </a:bodyPr>
          <a:lstStyle/>
          <a:p>
            <a:pPr indent="0" lvl="0" marL="0" rtl="0" algn="just">
              <a:lnSpc>
                <a:spcPct val="150000"/>
              </a:lnSpc>
              <a:spcBef>
                <a:spcPts val="0"/>
              </a:spcBef>
              <a:spcAft>
                <a:spcPts val="0"/>
              </a:spcAft>
              <a:buClr>
                <a:schemeClr val="dk1"/>
              </a:buClr>
              <a:buSzPts val="275"/>
              <a:buFont typeface="Arial"/>
              <a:buNone/>
            </a:pPr>
            <a:r>
              <a:rPr lang="en-US" sz="7251"/>
              <a:t>1.Integration with Database to handle large volumes of data efficiently. This can improve data security, scalability, and performance.</a:t>
            </a:r>
            <a:endParaRPr sz="7251"/>
          </a:p>
          <a:p>
            <a:pPr indent="0" lvl="0" marL="0" rtl="0" algn="just">
              <a:lnSpc>
                <a:spcPct val="150000"/>
              </a:lnSpc>
              <a:spcBef>
                <a:spcPts val="0"/>
              </a:spcBef>
              <a:spcAft>
                <a:spcPts val="0"/>
              </a:spcAft>
              <a:buClr>
                <a:schemeClr val="dk1"/>
              </a:buClr>
              <a:buSzPts val="275"/>
              <a:buFont typeface="Arial"/>
              <a:buNone/>
            </a:pPr>
            <a:r>
              <a:rPr lang="en-US" sz="7251"/>
              <a:t>2.Enhanced Error Handling to Customize error messages for specific exceptions and automatic retries for temporary failures.</a:t>
            </a:r>
            <a:endParaRPr sz="7251"/>
          </a:p>
          <a:p>
            <a:pPr indent="0" lvl="0" marL="0" rtl="0" algn="just">
              <a:lnSpc>
                <a:spcPct val="150000"/>
              </a:lnSpc>
              <a:spcBef>
                <a:spcPts val="0"/>
              </a:spcBef>
              <a:spcAft>
                <a:spcPts val="0"/>
              </a:spcAft>
              <a:buClr>
                <a:schemeClr val="dk1"/>
              </a:buClr>
              <a:buSzPts val="275"/>
              <a:buFont typeface="Arial"/>
              <a:buNone/>
            </a:pPr>
            <a:r>
              <a:rPr lang="en-US" sz="7251"/>
              <a:t>3.Input data directly without editing Excel files and view results in a user-friendly format.</a:t>
            </a:r>
            <a:endParaRPr sz="7251"/>
          </a:p>
          <a:p>
            <a:pPr indent="0" lvl="0" marL="0" rtl="0" algn="just">
              <a:lnSpc>
                <a:spcPct val="150000"/>
              </a:lnSpc>
              <a:spcBef>
                <a:spcPts val="0"/>
              </a:spcBef>
              <a:spcAft>
                <a:spcPts val="0"/>
              </a:spcAft>
              <a:buClr>
                <a:schemeClr val="dk1"/>
              </a:buClr>
              <a:buSzPts val="275"/>
              <a:buFont typeface="Arial"/>
              <a:buNone/>
            </a:pPr>
            <a:r>
              <a:rPr lang="en-US" sz="7251"/>
              <a:t>4.To Enable notifications or alerts to be sent via mobile apps for real-time updates on task completion or exceptions.</a:t>
            </a:r>
            <a:endParaRPr sz="7251"/>
          </a:p>
          <a:p>
            <a:pPr indent="0" lvl="0" marL="0" rtl="0" algn="just">
              <a:lnSpc>
                <a:spcPct val="150000"/>
              </a:lnSpc>
              <a:spcBef>
                <a:spcPts val="0"/>
              </a:spcBef>
              <a:spcAft>
                <a:spcPts val="0"/>
              </a:spcAft>
              <a:buClr>
                <a:schemeClr val="dk1"/>
              </a:buClr>
              <a:buSzPts val="275"/>
              <a:buFont typeface="Arial"/>
              <a:buNone/>
            </a:pPr>
            <a:r>
              <a:rPr lang="en-US" sz="7251"/>
              <a:t>5.Validate user data  Phone numbers, emails using external services.</a:t>
            </a:r>
            <a:endParaRPr sz="7251"/>
          </a:p>
          <a:p>
            <a:pPr indent="0" lvl="0" marL="0" rtl="0" algn="just">
              <a:lnSpc>
                <a:spcPct val="150000"/>
              </a:lnSpc>
              <a:spcBef>
                <a:spcPts val="0"/>
              </a:spcBef>
              <a:spcAft>
                <a:spcPts val="0"/>
              </a:spcAft>
              <a:buClr>
                <a:schemeClr val="dk1"/>
              </a:buClr>
              <a:buSzPts val="275"/>
              <a:buFont typeface="Arial"/>
              <a:buNone/>
            </a:pPr>
            <a:r>
              <a:rPr lang="en-US" sz="7251"/>
              <a:t>6.AI-Powered Enhancements to integrate AI and Machine Learning capabilities for predictive analytics (e.g., predicting peak library usage or identifying popular books).</a:t>
            </a:r>
            <a:endParaRPr sz="7251"/>
          </a:p>
          <a:p>
            <a:pPr indent="0" lvl="0" marL="0" rtl="0" algn="just">
              <a:lnSpc>
                <a:spcPct val="150000"/>
              </a:lnSpc>
              <a:spcBef>
                <a:spcPts val="0"/>
              </a:spcBef>
              <a:spcAft>
                <a:spcPts val="0"/>
              </a:spcAft>
              <a:buClr>
                <a:schemeClr val="dk1"/>
              </a:buClr>
              <a:buSzPts val="275"/>
              <a:buFont typeface="Arial"/>
              <a:buNone/>
            </a:pPr>
            <a:r>
              <a:rPr lang="en-US" sz="7251"/>
              <a:t>7.Enable voice input or output using UiPath's integration with tools like Google Assistant or Alexa for a hands-free user experience.</a:t>
            </a:r>
            <a:endParaRPr sz="7251"/>
          </a:p>
          <a:p>
            <a:pPr indent="0" lvl="0" marL="0" rtl="0" algn="l">
              <a:lnSpc>
                <a:spcPct val="114000"/>
              </a:lnSpc>
              <a:spcBef>
                <a:spcPts val="0"/>
              </a:spcBef>
              <a:spcAft>
                <a:spcPts val="0"/>
              </a:spcAft>
              <a:buNone/>
            </a:pPr>
            <a:r>
              <a:t/>
            </a:r>
            <a:endParaRPr/>
          </a:p>
          <a:p>
            <a:pPr indent="-190500" lvl="0" marL="342900" rtl="0" algn="l">
              <a:lnSpc>
                <a:spcPct val="114000"/>
              </a:lnSpc>
              <a:spcBef>
                <a:spcPts val="480"/>
              </a:spcBef>
              <a:spcAft>
                <a:spcPts val="0"/>
              </a:spcAft>
              <a:buClr>
                <a:schemeClr val="dk1"/>
              </a:buClr>
              <a:buSzPct val="100000"/>
              <a:buFont typeface="Noto Sans Symbols"/>
              <a:buNone/>
            </a:pPr>
            <a:r>
              <a:t/>
            </a:r>
            <a:endParaRPr/>
          </a:p>
          <a:p>
            <a:pPr indent="-190500" lvl="0" marL="342900" rtl="0" algn="l">
              <a:lnSpc>
                <a:spcPct val="114000"/>
              </a:lnSpc>
              <a:spcBef>
                <a:spcPts val="480"/>
              </a:spcBef>
              <a:spcAft>
                <a:spcPts val="0"/>
              </a:spcAft>
              <a:buClr>
                <a:schemeClr val="dk1"/>
              </a:buClr>
              <a:buSzPct val="100000"/>
              <a:buFont typeface="Noto Sans Symbols"/>
              <a:buNone/>
            </a:pPr>
            <a:r>
              <a:t/>
            </a:r>
            <a:endParaRPr/>
          </a:p>
          <a:p>
            <a:pPr indent="-190500" lvl="0" marL="342900" rtl="0" algn="l">
              <a:lnSpc>
                <a:spcPct val="114000"/>
              </a:lnSpc>
              <a:spcBef>
                <a:spcPts val="480"/>
              </a:spcBef>
              <a:spcAft>
                <a:spcPts val="0"/>
              </a:spcAft>
              <a:buClr>
                <a:schemeClr val="dk1"/>
              </a:buClr>
              <a:buSzPct val="100000"/>
              <a:buFont typeface="Noto Sans Symbols"/>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7"/>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References</a:t>
            </a:r>
            <a:endParaRPr>
              <a:latin typeface="Calibri"/>
              <a:ea typeface="Calibri"/>
              <a:cs typeface="Calibri"/>
              <a:sym typeface="Calibri"/>
            </a:endParaRPr>
          </a:p>
        </p:txBody>
      </p:sp>
      <p:sp>
        <p:nvSpPr>
          <p:cNvPr id="205" name="Google Shape;205;p27"/>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None/>
            </a:pPr>
            <a:r>
              <a:rPr lang="en-US" sz="1800"/>
              <a:t>1. RPA and UiPath Documentation: - UiPath Official Documentation. Retrieved from [https://docs.uipath.com](https://docs.uipath.com) </a:t>
            </a:r>
            <a:endParaRPr sz="1800"/>
          </a:p>
          <a:p>
            <a:pPr indent="0" lvl="0" marL="0" rtl="0" algn="just">
              <a:lnSpc>
                <a:spcPct val="150000"/>
              </a:lnSpc>
              <a:spcBef>
                <a:spcPts val="0"/>
              </a:spcBef>
              <a:spcAft>
                <a:spcPts val="0"/>
              </a:spcAft>
              <a:buNone/>
            </a:pPr>
            <a:r>
              <a:t/>
            </a:r>
            <a:endParaRPr sz="1800"/>
          </a:p>
          <a:p>
            <a:pPr indent="0" lvl="0" marL="0" rtl="0" algn="just">
              <a:lnSpc>
                <a:spcPct val="150000"/>
              </a:lnSpc>
              <a:spcBef>
                <a:spcPts val="0"/>
              </a:spcBef>
              <a:spcAft>
                <a:spcPts val="0"/>
              </a:spcAft>
              <a:buNone/>
            </a:pPr>
            <a:r>
              <a:rPr lang="en-US" sz="1800"/>
              <a:t>2. UiPath Academy Courses. Retrieved from [https://academy.uipath.com](https://academy.uipath.com) </a:t>
            </a:r>
            <a:endParaRPr sz="1800"/>
          </a:p>
          <a:p>
            <a:pPr indent="0" lvl="0" marL="0" rtl="0" algn="just">
              <a:lnSpc>
                <a:spcPct val="150000"/>
              </a:lnSpc>
              <a:spcBef>
                <a:spcPts val="0"/>
              </a:spcBef>
              <a:spcAft>
                <a:spcPts val="0"/>
              </a:spcAft>
              <a:buNone/>
            </a:pPr>
            <a:r>
              <a:t/>
            </a:r>
            <a:endParaRPr sz="1800"/>
          </a:p>
          <a:p>
            <a:pPr indent="0" lvl="0" marL="0" rtl="0" algn="just">
              <a:lnSpc>
                <a:spcPct val="150000"/>
              </a:lnSpc>
              <a:spcBef>
                <a:spcPts val="0"/>
              </a:spcBef>
              <a:spcAft>
                <a:spcPts val="0"/>
              </a:spcAft>
              <a:buNone/>
            </a:pPr>
            <a:r>
              <a:rPr lang="en-US" sz="1800"/>
              <a:t>3. Excel Automation in UiPath: - Automating Excel Processes. Retrieved from [https://docs.uipath.com/activities/docs/excel.automation](https://docs.uipath.com/activities/docs/excel-automation) </a:t>
            </a:r>
            <a:endParaRPr sz="1800"/>
          </a:p>
          <a:p>
            <a:pPr indent="0" lvl="0" marL="0" rtl="0" algn="just">
              <a:lnSpc>
                <a:spcPct val="150000"/>
              </a:lnSpc>
              <a:spcBef>
                <a:spcPts val="0"/>
              </a:spcBef>
              <a:spcAft>
                <a:spcPts val="0"/>
              </a:spcAft>
              <a:buNone/>
            </a:pPr>
            <a:r>
              <a:t/>
            </a:r>
            <a:endParaRPr sz="1800"/>
          </a:p>
          <a:p>
            <a:pPr indent="0" lvl="0" marL="0" rtl="0" algn="just">
              <a:lnSpc>
                <a:spcPct val="150000"/>
              </a:lnSpc>
              <a:spcBef>
                <a:spcPts val="0"/>
              </a:spcBef>
              <a:spcAft>
                <a:spcPts val="0"/>
              </a:spcAft>
              <a:buNone/>
            </a:pPr>
            <a:r>
              <a:rPr lang="en-US" sz="1800"/>
              <a:t>4. UiPath Forum Discussions on Excel Automation. Retrieved from [https://forum.uipath.com](https://forum.uipath.com) </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8"/>
          <p:cNvSpPr/>
          <p:nvPr/>
        </p:nvSpPr>
        <p:spPr>
          <a:xfrm>
            <a:off x="2532822" y="2321005"/>
            <a:ext cx="4078361" cy="15696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9600">
                <a:solidFill>
                  <a:schemeClr val="dk1"/>
                </a:solidFill>
                <a:latin typeface="Calibri"/>
                <a:ea typeface="Calibri"/>
                <a:cs typeface="Calibri"/>
                <a:sym typeface="Calibri"/>
              </a:rPr>
              <a:t>Queries</a:t>
            </a:r>
            <a:endParaRPr sz="96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9"/>
          <p:cNvSpPr/>
          <p:nvPr/>
        </p:nvSpPr>
        <p:spPr>
          <a:xfrm>
            <a:off x="727460" y="2321005"/>
            <a:ext cx="7689093" cy="15696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9600">
                <a:solidFill>
                  <a:schemeClr val="dk1"/>
                </a:solidFill>
                <a:latin typeface="Calibri"/>
                <a:ea typeface="Calibri"/>
                <a:cs typeface="Calibri"/>
                <a:sym typeface="Calibri"/>
              </a:rPr>
              <a:t>Demonstration</a:t>
            </a:r>
            <a:endParaRPr sz="96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0"/>
          <p:cNvSpPr/>
          <p:nvPr/>
        </p:nvSpPr>
        <p:spPr>
          <a:xfrm>
            <a:off x="1844234" y="2321005"/>
            <a:ext cx="5455532" cy="15696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9600">
                <a:solidFill>
                  <a:schemeClr val="dk1"/>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